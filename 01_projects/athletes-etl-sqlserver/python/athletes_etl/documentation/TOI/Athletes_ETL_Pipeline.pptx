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Robo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9CF8BF-FF69-4DA6-9BF6-C0AA42536C0E}">
  <a:tblStyle styleId="{9B9CF8BF-FF69-4DA6-9BF6-C0AA42536C0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italic.fntdata"/><Relationship Id="rId20" Type="http://schemas.openxmlformats.org/officeDocument/2006/relationships/slide" Target="slides/slide14.xml"/><Relationship Id="rId41" Type="http://schemas.openxmlformats.org/officeDocument/2006/relationships/font" Target="fonts/Robot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Roboto-bold.fntdata"/><Relationship Id="rId16" Type="http://schemas.openxmlformats.org/officeDocument/2006/relationships/slide" Target="slides/slide10.xml"/><Relationship Id="rId38" Type="http://schemas.openxmlformats.org/officeDocument/2006/relationships/font" Target="fonts/Robot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258f5c09e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258f5c09e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258f5c09e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258f5c09e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f82264b20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f82264b20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f82264b20f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f82264b20f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82264b20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82264b20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82264b20f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82264b20f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82264b20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82264b20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f82264b20f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f82264b20f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82264b20f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82264b20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82264b20f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82264b20f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f82264b20f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f82264b20f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f82264b20f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f82264b20f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82264b20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82264b20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258f5c09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258f5c09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258f5c09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258f5c09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258f5c09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f258f5c09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258f5c09e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258f5c09e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f258f5c09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f258f5c09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f258f5c09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f258f5c09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f258f5c09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f258f5c09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f258f5c09e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f258f5c09e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f258f5c09e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f258f5c09e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f258f5c09e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f258f5c09e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f258f5c09e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f258f5c09e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f258f5c09e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f258f5c09e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f258f5c09e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f258f5c09e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f258f5c09e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f258f5c09e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f258f5c09e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f258f5c09e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f258f5c09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f258f5c09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f4c0a87a7d_0_2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3f4c0a87a7d_0_2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8246400" y="4245875"/>
            <a:ext cx="897600" cy="897600"/>
          </a:xfrm>
          <a:prstGeom prst="round1Rect">
            <a:avLst>
              <a:gd fmla="val 16667" name="adj"/>
            </a:avLst>
          </a:prstGeom>
          <a:solidFill>
            <a:schemeClr val="lt1">
              <a:alpha val="6808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3" name="Google Shape;13;p2"/>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4" name="Google Shape;14;p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460950" y="2065350"/>
            <a:ext cx="8222100" cy="10128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7" name="Google Shape;17;p3"/>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2" name="Google Shape;22;p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3" name="Google Shape;23;p4"/>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p:nvPr/>
        </p:nvSpPr>
        <p:spPr>
          <a:xfrm flipH="1" rot="10800000">
            <a:off x="0" y="1686000"/>
            <a:ext cx="9144000" cy="3457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p:txBody>
      </p:sp>
      <p:sp>
        <p:nvSpPr>
          <p:cNvPr id="28" name="Google Shape;28;p5"/>
          <p:cNvSpPr txBox="1"/>
          <p:nvPr>
            <p:ph idx="1" type="body"/>
          </p:nvPr>
        </p:nvSpPr>
        <p:spPr>
          <a:xfrm>
            <a:off x="47190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5"/>
          <p:cNvSpPr txBox="1"/>
          <p:nvPr>
            <p:ph idx="2" type="body"/>
          </p:nvPr>
        </p:nvSpPr>
        <p:spPr>
          <a:xfrm>
            <a:off x="4694250" y="1919075"/>
            <a:ext cx="3999900" cy="271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p5"/>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type="title"/>
          </p:nvPr>
        </p:nvSpPr>
        <p:spPr>
          <a:xfrm>
            <a:off x="98250" y="16350"/>
            <a:ext cx="8826600" cy="602700"/>
          </a:xfrm>
          <a:prstGeom prst="rect">
            <a:avLst/>
          </a:prstGeom>
        </p:spPr>
        <p:txBody>
          <a:bodyPr anchorCtr="0" anchor="ctr" bIns="91425" lIns="91425" spcFirstLastPara="1" rIns="91425" wrap="square" tIns="91425">
            <a:norm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5" name="Google Shape;35;p6"/>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6" name="Shape 36"/>
        <p:cNvGrpSpPr/>
        <p:nvPr/>
      </p:nvGrpSpPr>
      <p:grpSpPr>
        <a:xfrm>
          <a:off x="0" y="0"/>
          <a:ext cx="0" cy="0"/>
          <a:chOff x="0" y="0"/>
          <a:chExt cx="0" cy="0"/>
        </a:xfrm>
      </p:grpSpPr>
      <p:sp>
        <p:nvSpPr>
          <p:cNvPr id="37" name="Google Shape;37;p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7"/>
          <p:cNvSpPr txBox="1"/>
          <p:nvPr>
            <p:ph type="title"/>
          </p:nvPr>
        </p:nvSpPr>
        <p:spPr>
          <a:xfrm>
            <a:off x="226078" y="357800"/>
            <a:ext cx="2808000" cy="9534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226075" y="1465800"/>
            <a:ext cx="2808000" cy="31635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Clr>
                <a:schemeClr val="lt1"/>
              </a:buClr>
              <a:buSzPts val="1200"/>
              <a:buChar char="●"/>
              <a:defRPr sz="1200">
                <a:solidFill>
                  <a:schemeClr val="lt1"/>
                </a:solidFill>
              </a:defRPr>
            </a:lvl1pPr>
            <a:lvl2pPr indent="-304800" lvl="1" marL="914400">
              <a:spcBef>
                <a:spcPts val="0"/>
              </a:spcBef>
              <a:spcAft>
                <a:spcPts val="0"/>
              </a:spcAft>
              <a:buClr>
                <a:schemeClr val="lt1"/>
              </a:buClr>
              <a:buSzPts val="1200"/>
              <a:buChar char="○"/>
              <a:defRPr sz="1200">
                <a:solidFill>
                  <a:schemeClr val="lt1"/>
                </a:solidFill>
              </a:defRPr>
            </a:lvl2pPr>
            <a:lvl3pPr indent="-304800" lvl="2" marL="1371600">
              <a:spcBef>
                <a:spcPts val="0"/>
              </a:spcBef>
              <a:spcAft>
                <a:spcPts val="0"/>
              </a:spcAft>
              <a:buClr>
                <a:schemeClr val="lt1"/>
              </a:buClr>
              <a:buSzPts val="1200"/>
              <a:buChar char="■"/>
              <a:defRPr sz="1200">
                <a:solidFill>
                  <a:schemeClr val="lt1"/>
                </a:solidFill>
              </a:defRPr>
            </a:lvl3pPr>
            <a:lvl4pPr indent="-304800" lvl="3" marL="1828800">
              <a:spcBef>
                <a:spcPts val="0"/>
              </a:spcBef>
              <a:spcAft>
                <a:spcPts val="0"/>
              </a:spcAft>
              <a:buClr>
                <a:schemeClr val="lt1"/>
              </a:buClr>
              <a:buSzPts val="1200"/>
              <a:buChar char="●"/>
              <a:defRPr sz="1200">
                <a:solidFill>
                  <a:schemeClr val="lt1"/>
                </a:solidFill>
              </a:defRPr>
            </a:lvl4pPr>
            <a:lvl5pPr indent="-304800" lvl="4" marL="2286000">
              <a:spcBef>
                <a:spcPts val="0"/>
              </a:spcBef>
              <a:spcAft>
                <a:spcPts val="0"/>
              </a:spcAft>
              <a:buClr>
                <a:schemeClr val="lt1"/>
              </a:buClr>
              <a:buSzPts val="1200"/>
              <a:buChar char="○"/>
              <a:defRPr sz="1200">
                <a:solidFill>
                  <a:schemeClr val="lt1"/>
                </a:solidFill>
              </a:defRPr>
            </a:lvl5pPr>
            <a:lvl6pPr indent="-304800" lvl="5" marL="2743200">
              <a:spcBef>
                <a:spcPts val="0"/>
              </a:spcBef>
              <a:spcAft>
                <a:spcPts val="0"/>
              </a:spcAft>
              <a:buClr>
                <a:schemeClr val="lt1"/>
              </a:buClr>
              <a:buSzPts val="1200"/>
              <a:buChar char="■"/>
              <a:defRPr sz="1200">
                <a:solidFill>
                  <a:schemeClr val="lt1"/>
                </a:solidFill>
              </a:defRPr>
            </a:lvl6pPr>
            <a:lvl7pPr indent="-304800" lvl="6" marL="3200400">
              <a:spcBef>
                <a:spcPts val="0"/>
              </a:spcBef>
              <a:spcAft>
                <a:spcPts val="0"/>
              </a:spcAft>
              <a:buClr>
                <a:schemeClr val="lt1"/>
              </a:buClr>
              <a:buSzPts val="1200"/>
              <a:buChar char="●"/>
              <a:defRPr sz="1200">
                <a:solidFill>
                  <a:schemeClr val="lt1"/>
                </a:solidFill>
              </a:defRPr>
            </a:lvl7pPr>
            <a:lvl8pPr indent="-304800" lvl="7" marL="3657600">
              <a:spcBef>
                <a:spcPts val="0"/>
              </a:spcBef>
              <a:spcAft>
                <a:spcPts val="0"/>
              </a:spcAft>
              <a:buClr>
                <a:schemeClr val="lt1"/>
              </a:buClr>
              <a:buSzPts val="1200"/>
              <a:buChar char="○"/>
              <a:defRPr sz="1200">
                <a:solidFill>
                  <a:schemeClr val="lt1"/>
                </a:solidFill>
              </a:defRPr>
            </a:lvl8pPr>
            <a:lvl9pPr indent="-304800" lvl="8" marL="4114800">
              <a:spcBef>
                <a:spcPts val="0"/>
              </a:spcBef>
              <a:spcAft>
                <a:spcPts val="0"/>
              </a:spcAft>
              <a:buClr>
                <a:schemeClr val="lt1"/>
              </a:buClr>
              <a:buSzPts val="1200"/>
              <a:buChar char="■"/>
              <a:defRPr sz="1200">
                <a:solidFill>
                  <a:schemeClr val="lt1"/>
                </a:solidFill>
              </a:defRPr>
            </a:lvl9pPr>
          </a:lstStyle>
          <a:p/>
        </p:txBody>
      </p:sp>
      <p:sp>
        <p:nvSpPr>
          <p:cNvPr id="41" name="Google Shape;41;p7"/>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p8"/>
          <p:cNvSpPr txBox="1"/>
          <p:nvPr>
            <p:ph type="title"/>
          </p:nvPr>
        </p:nvSpPr>
        <p:spPr>
          <a:xfrm>
            <a:off x="490250" y="488250"/>
            <a:ext cx="62271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p:txBody>
      </p:sp>
      <p:sp>
        <p:nvSpPr>
          <p:cNvPr id="44" name="Google Shape;44;p8"/>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p:txBody>
      </p:sp>
      <p:sp>
        <p:nvSpPr>
          <p:cNvPr id="49" name="Google Shape;49;p9"/>
          <p:cNvSpPr txBox="1"/>
          <p:nvPr>
            <p:ph idx="1" type="subTitle"/>
          </p:nvPr>
        </p:nvSpPr>
        <p:spPr>
          <a:xfrm>
            <a:off x="265500" y="2779467"/>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0"/>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10"/>
          <p:cNvSpPr txBox="1"/>
          <p:nvPr>
            <p:ph idx="1" type="body"/>
          </p:nvPr>
        </p:nvSpPr>
        <p:spPr>
          <a:xfrm>
            <a:off x="57150" y="4696825"/>
            <a:ext cx="8382000" cy="44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lt1"/>
              </a:buClr>
              <a:buSzPts val="1200"/>
              <a:buNone/>
              <a:defRPr sz="1200">
                <a:solidFill>
                  <a:schemeClr val="lt1"/>
                </a:solidFill>
              </a:defRPr>
            </a:lvl1pPr>
          </a:lstStyle>
          <a:p/>
        </p:txBody>
      </p:sp>
      <p:sp>
        <p:nvSpPr>
          <p:cNvPr id="56" name="Google Shape;56;p10"/>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57" name="Shape 57"/>
        <p:cNvGrpSpPr/>
        <p:nvPr/>
      </p:nvGrpSpPr>
      <p:grpSpPr>
        <a:xfrm>
          <a:off x="0" y="0"/>
          <a:ext cx="0" cy="0"/>
          <a:chOff x="0" y="0"/>
          <a:chExt cx="0" cy="0"/>
        </a:xfrm>
      </p:grpSpPr>
      <p:sp>
        <p:nvSpPr>
          <p:cNvPr id="58" name="Google Shape;58;p11"/>
          <p:cNvSpPr txBox="1"/>
          <p:nvPr>
            <p:ph hasCustomPrompt="1" type="title"/>
          </p:nvPr>
        </p:nvSpPr>
        <p:spPr>
          <a:xfrm>
            <a:off x="475500" y="1258525"/>
            <a:ext cx="8222100" cy="19635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p:nvPr>
            <p:ph idx="1" type="body"/>
          </p:nvPr>
        </p:nvSpPr>
        <p:spPr>
          <a:xfrm>
            <a:off x="475500" y="3304625"/>
            <a:ext cx="82221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0" name="Google Shape;60;p11"/>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61" name="Shape 61"/>
        <p:cNvGrpSpPr/>
        <p:nvPr/>
      </p:nvGrpSpPr>
      <p:grpSpPr>
        <a:xfrm>
          <a:off x="0" y="0"/>
          <a:ext cx="0" cy="0"/>
          <a:chOff x="0" y="0"/>
          <a:chExt cx="0" cy="0"/>
        </a:xfrm>
      </p:grpSpPr>
      <p:sp>
        <p:nvSpPr>
          <p:cNvPr id="62" name="Google Shape;62;p12"/>
          <p:cNvSpPr txBox="1"/>
          <p:nvPr>
            <p:ph idx="12" type="sldNum"/>
          </p:nvPr>
        </p:nvSpPr>
        <p:spPr>
          <a:xfrm>
            <a:off x="8523541" y="4695623"/>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p:txBody>
      </p:sp>
      <p:sp>
        <p:nvSpPr>
          <p:cNvPr id="7" name="Google Shape;7;p1"/>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indent="-317500" lvl="1" marL="914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2pPr>
            <a:lvl3pPr indent="-317500" lvl="2" marL="1371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3pPr>
            <a:lvl4pPr indent="-317500" lvl="3" marL="1828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4pPr>
            <a:lvl5pPr indent="-317500" lvl="4" marL="22860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5pPr>
            <a:lvl6pPr indent="-317500" lvl="5" marL="27432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6pPr>
            <a:lvl7pPr indent="-317500" lvl="6" marL="32004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7pPr>
            <a:lvl8pPr indent="-317500" lvl="7" marL="36576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8pPr>
            <a:lvl9pPr indent="-317500" lvl="8" marL="4114800">
              <a:lnSpc>
                <a:spcPct val="115000"/>
              </a:lnSpc>
              <a:spcBef>
                <a:spcPts val="0"/>
              </a:spcBef>
              <a:spcAft>
                <a:spcPts val="0"/>
              </a:spcAft>
              <a:buClr>
                <a:schemeClr val="lt2"/>
              </a:buClr>
              <a:buSzPts val="1400"/>
              <a:buFont typeface="Roboto"/>
              <a:buChar char="■"/>
              <a:defRPr>
                <a:solidFill>
                  <a:schemeClr val="lt2"/>
                </a:solidFill>
                <a:latin typeface="Roboto"/>
                <a:ea typeface="Roboto"/>
                <a:cs typeface="Roboto"/>
                <a:sym typeface="Roboto"/>
              </a:defRPr>
            </a:lvl9pPr>
          </a:lstStyle>
          <a:p/>
        </p:txBody>
      </p:sp>
      <p:sp>
        <p:nvSpPr>
          <p:cNvPr id="8" name="Google Shape;8;p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3"/>
          <p:cNvSpPr txBox="1"/>
          <p:nvPr>
            <p:ph type="ctrTitle"/>
          </p:nvPr>
        </p:nvSpPr>
        <p:spPr>
          <a:xfrm>
            <a:off x="390525" y="1819275"/>
            <a:ext cx="8222100" cy="9336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Athletes ETL Pipeline</a:t>
            </a:r>
            <a:endParaRPr/>
          </a:p>
        </p:txBody>
      </p:sp>
      <p:sp>
        <p:nvSpPr>
          <p:cNvPr id="68" name="Google Shape;68;p13"/>
          <p:cNvSpPr txBox="1"/>
          <p:nvPr>
            <p:ph idx="1" type="subTitle"/>
          </p:nvPr>
        </p:nvSpPr>
        <p:spPr>
          <a:xfrm>
            <a:off x="390525" y="2789130"/>
            <a:ext cx="8222100" cy="4329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Moving data from CSV to SQL Server using Python Pandas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Project Overview Athletes ETL Pipeline</a:t>
            </a:r>
            <a:endParaRPr/>
          </a:p>
        </p:txBody>
      </p:sp>
      <p:sp>
        <p:nvSpPr>
          <p:cNvPr id="74" name="Google Shape;74;p14"/>
          <p:cNvSpPr txBox="1"/>
          <p:nvPr>
            <p:ph idx="1" type="body"/>
          </p:nvPr>
        </p:nvSpPr>
        <p:spPr>
          <a:xfrm>
            <a:off x="471900" y="1919075"/>
            <a:ext cx="37587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Objectives</a:t>
            </a:r>
            <a:endParaRPr/>
          </a:p>
          <a:p>
            <a:pPr indent="-298450" lvl="0" marL="457200" rtl="0" algn="l">
              <a:spcBef>
                <a:spcPts val="1200"/>
              </a:spcBef>
              <a:spcAft>
                <a:spcPts val="0"/>
              </a:spcAft>
              <a:buClr>
                <a:srgbClr val="000000"/>
              </a:buClr>
              <a:buSzPts val="1100"/>
              <a:buFont typeface="Arial"/>
              <a:buChar char="●"/>
            </a:pPr>
            <a:r>
              <a:rPr lang="en" sz="1100">
                <a:solidFill>
                  <a:srgbClr val="000000"/>
                </a:solidFill>
                <a:latin typeface="Arial"/>
                <a:ea typeface="Arial"/>
                <a:cs typeface="Arial"/>
                <a:sym typeface="Arial"/>
              </a:rPr>
              <a:t>Read athlete data from CSV</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Clean and validate records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Reject bad records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Remove duplicates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Load into SQL Server</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Track execution metrics</a:t>
            </a:r>
            <a:endParaRPr sz="1100">
              <a:solidFill>
                <a:srgbClr val="000000"/>
              </a:solidFill>
              <a:latin typeface="Arial"/>
              <a:ea typeface="Arial"/>
              <a:cs typeface="Arial"/>
              <a:sym typeface="Arial"/>
            </a:endParaRPr>
          </a:p>
          <a:p>
            <a:pPr indent="-298450" lvl="0" marL="457200" rtl="0" algn="l">
              <a:spcBef>
                <a:spcPts val="0"/>
              </a:spcBef>
              <a:spcAft>
                <a:spcPts val="0"/>
              </a:spcAft>
              <a:buClr>
                <a:srgbClr val="000000"/>
              </a:buClr>
              <a:buSzPts val="1100"/>
              <a:buFont typeface="Arial"/>
              <a:buChar char="●"/>
            </a:pPr>
            <a:r>
              <a:rPr lang="en" sz="1100">
                <a:solidFill>
                  <a:srgbClr val="000000"/>
                </a:solidFill>
                <a:latin typeface="Arial"/>
                <a:ea typeface="Arial"/>
                <a:cs typeface="Arial"/>
                <a:sym typeface="Arial"/>
              </a:rPr>
              <a:t>Orchestrate with Airflow</a:t>
            </a:r>
            <a:endParaRPr/>
          </a:p>
          <a:p>
            <a:pPr indent="0" lvl="0" marL="0" rtl="0" algn="l">
              <a:spcBef>
                <a:spcPts val="1200"/>
              </a:spcBef>
              <a:spcAft>
                <a:spcPts val="1200"/>
              </a:spcAft>
              <a:buNone/>
            </a:pPr>
            <a:r>
              <a:t/>
            </a:r>
            <a:endParaRPr/>
          </a:p>
        </p:txBody>
      </p:sp>
      <p:sp>
        <p:nvSpPr>
          <p:cNvPr id="75" name="Google Shape;75;p14"/>
          <p:cNvSpPr txBox="1"/>
          <p:nvPr>
            <p:ph idx="1" type="body"/>
          </p:nvPr>
        </p:nvSpPr>
        <p:spPr>
          <a:xfrm>
            <a:off x="4830875" y="1966875"/>
            <a:ext cx="37587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Diagram</a:t>
            </a:r>
            <a:endParaRPr/>
          </a:p>
          <a:p>
            <a:pPr indent="0" lvl="0" marL="0" rtl="0" algn="l">
              <a:spcBef>
                <a:spcPts val="1200"/>
              </a:spcBef>
              <a:spcAft>
                <a:spcPts val="0"/>
              </a:spcAft>
              <a:buNone/>
            </a:pPr>
            <a:r>
              <a:rPr lang="en" sz="1000"/>
              <a:t>bios.csv  -&gt; Python ETL -&gt; Validation Layer -&gt; Dedupe Layer -&gt;</a:t>
            </a:r>
            <a:endParaRPr sz="1000"/>
          </a:p>
          <a:p>
            <a:pPr indent="0" lvl="0" marL="0" rtl="0" algn="l">
              <a:spcBef>
                <a:spcPts val="1200"/>
              </a:spcBef>
              <a:spcAft>
                <a:spcPts val="1200"/>
              </a:spcAft>
              <a:buNone/>
            </a:pPr>
            <a:r>
              <a:rPr lang="en" sz="1000"/>
              <a:t>SQL Server -&gt; Audit Tables </a:t>
            </a:r>
            <a:endParaRPr sz="1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High-Level Architecture</a:t>
            </a:r>
            <a:endParaRPr/>
          </a:p>
        </p:txBody>
      </p:sp>
      <p:sp>
        <p:nvSpPr>
          <p:cNvPr id="81" name="Google Shape;81;p1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sz="1300"/>
          </a:p>
        </p:txBody>
      </p:sp>
      <p:pic>
        <p:nvPicPr>
          <p:cNvPr id="82" name="Google Shape;82;p15"/>
          <p:cNvPicPr preferRelativeResize="0"/>
          <p:nvPr/>
        </p:nvPicPr>
        <p:blipFill>
          <a:blip r:embed="rId3">
            <a:alphaModFix/>
          </a:blip>
          <a:stretch>
            <a:fillRect/>
          </a:stretch>
        </p:blipFill>
        <p:spPr>
          <a:xfrm>
            <a:off x="5942700" y="86775"/>
            <a:ext cx="1309900" cy="4917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6"/>
          <p:cNvSpPr txBox="1"/>
          <p:nvPr>
            <p:ph type="title"/>
          </p:nvPr>
        </p:nvSpPr>
        <p:spPr>
          <a:xfrm>
            <a:off x="320525" y="54100"/>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Architecture Overview: </a:t>
            </a:r>
            <a:r>
              <a:rPr lang="en" sz="1756"/>
              <a:t>Application Architecture – Athletes ETL Pipeline Purpose: Show how the project is organized</a:t>
            </a:r>
            <a:endParaRPr sz="1756"/>
          </a:p>
        </p:txBody>
      </p:sp>
      <p:sp>
        <p:nvSpPr>
          <p:cNvPr id="88" name="Google Shape;88;p1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9" name="Google Shape;89;p16" title="Athletes_ETL_Pipeline_Python.png"/>
          <p:cNvPicPr preferRelativeResize="0"/>
          <p:nvPr/>
        </p:nvPicPr>
        <p:blipFill>
          <a:blip r:embed="rId3">
            <a:alphaModFix/>
          </a:blip>
          <a:stretch>
            <a:fillRect/>
          </a:stretch>
        </p:blipFill>
        <p:spPr>
          <a:xfrm>
            <a:off x="426275" y="821800"/>
            <a:ext cx="7715251" cy="51435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a:t>
            </a:r>
            <a:endParaRPr/>
          </a:p>
        </p:txBody>
      </p:sp>
      <p:sp>
        <p:nvSpPr>
          <p:cNvPr id="95" name="Google Shape;95;p1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77500" lnSpcReduction="20000"/>
          </a:bodyPr>
          <a:lstStyle/>
          <a:p>
            <a:pPr indent="0" lvl="0" marL="0" rtl="0" algn="l">
              <a:spcBef>
                <a:spcPts val="0"/>
              </a:spcBef>
              <a:spcAft>
                <a:spcPts val="0"/>
              </a:spcAft>
              <a:buNone/>
            </a:pPr>
            <a:r>
              <a:rPr lang="en"/>
              <a:t>This is the slide that explains what happens when someone runs: python -m athletes_etl.main </a:t>
            </a:r>
            <a:endParaRPr/>
          </a:p>
          <a:p>
            <a:pPr indent="0" lvl="0" marL="0" rtl="0" algn="l">
              <a:spcBef>
                <a:spcPts val="1800"/>
              </a:spcBef>
              <a:spcAft>
                <a:spcPts val="0"/>
              </a:spcAft>
              <a:buNone/>
            </a:pPr>
            <a:r>
              <a:rPr b="1" lang="en" sz="1700">
                <a:solidFill>
                  <a:srgbClr val="000000"/>
                </a:solidFill>
                <a:latin typeface="Arial"/>
                <a:ea typeface="Arial"/>
                <a:cs typeface="Arial"/>
                <a:sym typeface="Arial"/>
              </a:rPr>
              <a:t>Step 1</a:t>
            </a:r>
            <a:endParaRPr b="1" sz="1700">
              <a:solidFill>
                <a:srgbClr val="000000"/>
              </a:solidFill>
              <a:latin typeface="Arial"/>
              <a:ea typeface="Arial"/>
              <a:cs typeface="Arial"/>
              <a:sym typeface="Arial"/>
            </a:endParaRPr>
          </a:p>
          <a:p>
            <a:pPr indent="0" lvl="0" marL="0" rtl="0" algn="l">
              <a:spcBef>
                <a:spcPts val="1400"/>
              </a:spcBef>
              <a:spcAft>
                <a:spcPts val="0"/>
              </a:spcAft>
              <a:buNone/>
            </a:pPr>
            <a:r>
              <a:rPr b="1" lang="en" sz="1300">
                <a:solidFill>
                  <a:srgbClr val="000000"/>
                </a:solidFill>
                <a:latin typeface="Arial"/>
                <a:ea typeface="Arial"/>
                <a:cs typeface="Arial"/>
                <a:sym typeface="Arial"/>
              </a:rPr>
              <a:t>main.py starts</a:t>
            </a:r>
            <a:endParaRPr b="1" sz="13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Responsibilities</a:t>
            </a:r>
            <a:endParaRPr sz="1100">
              <a:solidFill>
                <a:srgbClr val="000000"/>
              </a:solidFill>
              <a:latin typeface="Arial"/>
              <a:ea typeface="Arial"/>
              <a:cs typeface="Arial"/>
              <a:sym typeface="Arial"/>
            </a:endParaRPr>
          </a:p>
          <a:p>
            <a:pPr indent="-282734" lvl="0" marL="457200" rtl="0" algn="l">
              <a:spcBef>
                <a:spcPts val="1200"/>
              </a:spcBef>
              <a:spcAft>
                <a:spcPts val="0"/>
              </a:spcAft>
              <a:buClr>
                <a:srgbClr val="000000"/>
              </a:buClr>
              <a:buSzPct val="100000"/>
              <a:buFont typeface="Arial"/>
              <a:buChar char="●"/>
            </a:pPr>
            <a:r>
              <a:rPr lang="en" sz="1100">
                <a:solidFill>
                  <a:srgbClr val="000000"/>
                </a:solidFill>
                <a:latin typeface="Arial"/>
                <a:ea typeface="Arial"/>
                <a:cs typeface="Arial"/>
                <a:sym typeface="Arial"/>
              </a:rPr>
              <a:t>Entry point</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Starts ETL</a:t>
            </a:r>
            <a:endParaRPr sz="1100">
              <a:solidFill>
                <a:srgbClr val="000000"/>
              </a:solidFill>
              <a:latin typeface="Arial"/>
              <a:ea typeface="Arial"/>
              <a:cs typeface="Arial"/>
              <a:sym typeface="Arial"/>
            </a:endParaRPr>
          </a:p>
          <a:p>
            <a:pPr indent="-282734" lvl="0" marL="457200" rtl="0" algn="l">
              <a:spcBef>
                <a:spcPts val="0"/>
              </a:spcBef>
              <a:spcAft>
                <a:spcPts val="0"/>
              </a:spcAft>
              <a:buClr>
                <a:srgbClr val="000000"/>
              </a:buClr>
              <a:buSzPct val="100000"/>
              <a:buFont typeface="Arial"/>
              <a:buChar char="●"/>
            </a:pPr>
            <a:r>
              <a:rPr lang="en" sz="1100">
                <a:solidFill>
                  <a:srgbClr val="000000"/>
                </a:solidFill>
                <a:latin typeface="Arial"/>
                <a:ea typeface="Arial"/>
                <a:cs typeface="Arial"/>
                <a:sym typeface="Arial"/>
              </a:rPr>
              <a:t>Coordinates all modules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Calls:</a:t>
            </a:r>
            <a:endParaRPr sz="1100">
              <a:solidFill>
                <a:srgbClr val="000000"/>
              </a:solidFill>
              <a:latin typeface="Arial"/>
              <a:ea typeface="Arial"/>
              <a:cs typeface="Arial"/>
              <a:sym typeface="Arial"/>
            </a:endParaRPr>
          </a:p>
          <a:p>
            <a:pPr indent="0" lvl="0" marL="0" rtl="0" algn="l">
              <a:spcBef>
                <a:spcPts val="1200"/>
              </a:spcBef>
              <a:spcAft>
                <a:spcPts val="0"/>
              </a:spcAft>
              <a:buNone/>
            </a:pPr>
            <a:r>
              <a:rPr lang="en" sz="1100">
                <a:solidFill>
                  <a:srgbClr val="000000"/>
                </a:solidFill>
                <a:latin typeface="Arial"/>
                <a:ea typeface="Arial"/>
                <a:cs typeface="Arial"/>
                <a:sym typeface="Arial"/>
              </a:rPr>
              <a:t>load_config()</a:t>
            </a:r>
            <a:endParaRPr sz="1100">
              <a:solidFill>
                <a:srgbClr val="000000"/>
              </a:solidFill>
              <a:latin typeface="Arial"/>
              <a:ea typeface="Arial"/>
              <a:cs typeface="Arial"/>
              <a:sym typeface="Aria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2</a:t>
            </a:r>
            <a:endParaRPr/>
          </a:p>
        </p:txBody>
      </p:sp>
      <p:sp>
        <p:nvSpPr>
          <p:cNvPr id="101" name="Google Shape;101;p1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40000" lnSpcReduction="20000"/>
          </a:bodyPr>
          <a:lstStyle/>
          <a:p>
            <a:pPr indent="0" lvl="0" marL="0" rtl="0" algn="l">
              <a:spcBef>
                <a:spcPts val="1800"/>
              </a:spcBef>
              <a:spcAft>
                <a:spcPts val="0"/>
              </a:spcAft>
              <a:buNone/>
            </a:pPr>
            <a:r>
              <a:rPr b="1" lang="en" sz="3250">
                <a:solidFill>
                  <a:srgbClr val="000000"/>
                </a:solidFill>
                <a:latin typeface="Arial"/>
                <a:ea typeface="Arial"/>
                <a:cs typeface="Arial"/>
                <a:sym typeface="Arial"/>
              </a:rPr>
              <a:t>Step 2 config.py</a:t>
            </a:r>
            <a:endParaRPr b="1" sz="3250">
              <a:solidFill>
                <a:srgbClr val="000000"/>
              </a:solidFill>
              <a:latin typeface="Arial"/>
              <a:ea typeface="Arial"/>
              <a:cs typeface="Arial"/>
              <a:sym typeface="Arial"/>
            </a:endParaRPr>
          </a:p>
          <a:p>
            <a:pPr indent="0" lvl="0" marL="0" rtl="0" algn="l">
              <a:spcBef>
                <a:spcPts val="1200"/>
              </a:spcBef>
              <a:spcAft>
                <a:spcPts val="0"/>
              </a:spcAft>
              <a:buNone/>
            </a:pPr>
            <a:r>
              <a:rPr lang="en" sz="2208">
                <a:solidFill>
                  <a:srgbClr val="000000"/>
                </a:solidFill>
                <a:latin typeface="Arial"/>
                <a:ea typeface="Arial"/>
                <a:cs typeface="Arial"/>
                <a:sym typeface="Arial"/>
              </a:rPr>
              <a:t>Loads 	dev.yaml</a:t>
            </a:r>
            <a:endParaRPr sz="2208">
              <a:solidFill>
                <a:srgbClr val="000000"/>
              </a:solidFill>
              <a:latin typeface="Arial"/>
              <a:ea typeface="Arial"/>
              <a:cs typeface="Arial"/>
              <a:sym typeface="Arial"/>
            </a:endParaRPr>
          </a:p>
          <a:p>
            <a:pPr indent="0" lvl="0" marL="0" rtl="0" algn="l">
              <a:spcBef>
                <a:spcPts val="1200"/>
              </a:spcBef>
              <a:spcAft>
                <a:spcPts val="0"/>
              </a:spcAft>
              <a:buNone/>
            </a:pPr>
            <a:r>
              <a:rPr lang="en" sz="2208">
                <a:solidFill>
                  <a:srgbClr val="000000"/>
                </a:solidFill>
                <a:latin typeface="Arial"/>
                <a:ea typeface="Arial"/>
                <a:cs typeface="Arial"/>
                <a:sym typeface="Arial"/>
              </a:rPr>
              <a:t>Returns	config dictionary</a:t>
            </a:r>
            <a:endParaRPr sz="2208">
              <a:solidFill>
                <a:srgbClr val="000000"/>
              </a:solidFill>
              <a:latin typeface="Arial"/>
              <a:ea typeface="Arial"/>
              <a:cs typeface="Arial"/>
              <a:sym typeface="Arial"/>
            </a:endParaRPr>
          </a:p>
          <a:p>
            <a:pPr indent="0" lvl="0" marL="0" rtl="0" algn="l">
              <a:spcBef>
                <a:spcPts val="1200"/>
              </a:spcBef>
              <a:spcAft>
                <a:spcPts val="0"/>
              </a:spcAft>
              <a:buNone/>
            </a:pPr>
            <a:r>
              <a:rPr lang="en" sz="2208">
                <a:solidFill>
                  <a:srgbClr val="000000"/>
                </a:solidFill>
                <a:latin typeface="Arial"/>
                <a:ea typeface="Arial"/>
                <a:cs typeface="Arial"/>
                <a:sym typeface="Arial"/>
              </a:rPr>
              <a:t>Containing</a:t>
            </a:r>
            <a:endParaRPr sz="2208">
              <a:solidFill>
                <a:srgbClr val="000000"/>
              </a:solidFill>
              <a:latin typeface="Arial"/>
              <a:ea typeface="Arial"/>
              <a:cs typeface="Arial"/>
              <a:sym typeface="Arial"/>
            </a:endParaRPr>
          </a:p>
          <a:p>
            <a:pPr indent="-284675" lvl="0" marL="457200" rtl="0" algn="l">
              <a:spcBef>
                <a:spcPts val="1200"/>
              </a:spcBef>
              <a:spcAft>
                <a:spcPts val="0"/>
              </a:spcAft>
              <a:buClr>
                <a:srgbClr val="000000"/>
              </a:buClr>
              <a:buSzPct val="100000"/>
              <a:buFont typeface="Arial"/>
              <a:buChar char="●"/>
            </a:pPr>
            <a:r>
              <a:rPr lang="en" sz="2208">
                <a:solidFill>
                  <a:srgbClr val="000000"/>
                </a:solidFill>
                <a:latin typeface="Arial"/>
                <a:ea typeface="Arial"/>
                <a:cs typeface="Arial"/>
                <a:sym typeface="Arial"/>
              </a:rPr>
              <a:t>SQL Server connection</a:t>
            </a:r>
            <a:endParaRPr sz="2208">
              <a:solidFill>
                <a:srgbClr val="000000"/>
              </a:solidFill>
              <a:latin typeface="Arial"/>
              <a:ea typeface="Arial"/>
              <a:cs typeface="Arial"/>
              <a:sym typeface="Arial"/>
            </a:endParaRPr>
          </a:p>
          <a:p>
            <a:pPr indent="-284675" lvl="0" marL="457200" rtl="0" algn="l">
              <a:spcBef>
                <a:spcPts val="0"/>
              </a:spcBef>
              <a:spcAft>
                <a:spcPts val="0"/>
              </a:spcAft>
              <a:buClr>
                <a:srgbClr val="000000"/>
              </a:buClr>
              <a:buSzPct val="100000"/>
              <a:buFont typeface="Arial"/>
              <a:buChar char="●"/>
            </a:pPr>
            <a:r>
              <a:rPr lang="en" sz="2208">
                <a:solidFill>
                  <a:srgbClr val="000000"/>
                </a:solidFill>
                <a:latin typeface="Arial"/>
                <a:ea typeface="Arial"/>
                <a:cs typeface="Arial"/>
                <a:sym typeface="Arial"/>
              </a:rPr>
              <a:t>CSV location</a:t>
            </a:r>
            <a:endParaRPr sz="2208">
              <a:solidFill>
                <a:srgbClr val="000000"/>
              </a:solidFill>
              <a:latin typeface="Arial"/>
              <a:ea typeface="Arial"/>
              <a:cs typeface="Arial"/>
              <a:sym typeface="Arial"/>
            </a:endParaRPr>
          </a:p>
          <a:p>
            <a:pPr indent="-284675" lvl="0" marL="457200" rtl="0" algn="l">
              <a:spcBef>
                <a:spcPts val="0"/>
              </a:spcBef>
              <a:spcAft>
                <a:spcPts val="0"/>
              </a:spcAft>
              <a:buClr>
                <a:srgbClr val="000000"/>
              </a:buClr>
              <a:buSzPct val="100000"/>
              <a:buFont typeface="Arial"/>
              <a:buChar char="●"/>
            </a:pPr>
            <a:r>
              <a:rPr lang="en" sz="2208">
                <a:solidFill>
                  <a:srgbClr val="000000"/>
                </a:solidFill>
                <a:latin typeface="Arial"/>
                <a:ea typeface="Arial"/>
                <a:cs typeface="Arial"/>
                <a:sym typeface="Arial"/>
              </a:rPr>
              <a:t>Chunk size</a:t>
            </a:r>
            <a:endParaRPr sz="2208">
              <a:solidFill>
                <a:srgbClr val="000000"/>
              </a:solidFill>
              <a:latin typeface="Arial"/>
              <a:ea typeface="Arial"/>
              <a:cs typeface="Arial"/>
              <a:sym typeface="Arial"/>
            </a:endParaRPr>
          </a:p>
          <a:p>
            <a:pPr indent="-284675" lvl="0" marL="457200" rtl="0" algn="l">
              <a:spcBef>
                <a:spcPts val="0"/>
              </a:spcBef>
              <a:spcAft>
                <a:spcPts val="0"/>
              </a:spcAft>
              <a:buClr>
                <a:srgbClr val="000000"/>
              </a:buClr>
              <a:buSzPct val="100000"/>
              <a:buFont typeface="Arial"/>
              <a:buChar char="●"/>
            </a:pPr>
            <a:r>
              <a:rPr lang="en" sz="2208">
                <a:solidFill>
                  <a:srgbClr val="000000"/>
                </a:solidFill>
                <a:latin typeface="Arial"/>
                <a:ea typeface="Arial"/>
                <a:cs typeface="Arial"/>
                <a:sym typeface="Arial"/>
              </a:rPr>
              <a:t>Audit settings</a:t>
            </a:r>
            <a:endParaRPr sz="2208">
              <a:solidFill>
                <a:srgbClr val="000000"/>
              </a:solidFill>
              <a:latin typeface="Arial"/>
              <a:ea typeface="Arial"/>
              <a:cs typeface="Arial"/>
              <a:sym typeface="Arial"/>
            </a:endParaRPr>
          </a:p>
          <a:p>
            <a:pPr indent="-284675" lvl="0" marL="457200" rtl="0" algn="l">
              <a:spcBef>
                <a:spcPts val="0"/>
              </a:spcBef>
              <a:spcAft>
                <a:spcPts val="0"/>
              </a:spcAft>
              <a:buClr>
                <a:srgbClr val="000000"/>
              </a:buClr>
              <a:buSzPct val="100000"/>
              <a:buFont typeface="Arial"/>
              <a:buChar char="●"/>
            </a:pPr>
            <a:r>
              <a:rPr lang="en" sz="2208">
                <a:solidFill>
                  <a:srgbClr val="000000"/>
                </a:solidFill>
                <a:latin typeface="Arial"/>
                <a:ea typeface="Arial"/>
                <a:cs typeface="Arial"/>
                <a:sym typeface="Arial"/>
              </a:rPr>
              <a:t>Reject settings</a:t>
            </a:r>
            <a:endParaRPr sz="2208">
              <a:solidFill>
                <a:srgbClr val="000000"/>
              </a:solidFill>
              <a:latin typeface="Arial"/>
              <a:ea typeface="Arial"/>
              <a:cs typeface="Arial"/>
              <a:sym typeface="Arial"/>
            </a:endParaRPr>
          </a:p>
          <a:p>
            <a:pPr indent="0" lvl="0" marL="0" rtl="0" algn="l">
              <a:spcBef>
                <a:spcPts val="1200"/>
              </a:spcBef>
              <a:spcAft>
                <a:spcPts val="0"/>
              </a:spcAft>
              <a:buNone/>
            </a:pPr>
            <a:r>
              <a:rPr lang="en" sz="2208">
                <a:solidFill>
                  <a:srgbClr val="000000"/>
                </a:solidFill>
                <a:latin typeface="Arial"/>
                <a:ea typeface="Arial"/>
                <a:cs typeface="Arial"/>
                <a:sym typeface="Arial"/>
              </a:rPr>
              <a:t>Returns to main.py</a:t>
            </a:r>
            <a:endParaRPr sz="2208">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3</a:t>
            </a:r>
            <a:endParaRPr/>
          </a:p>
        </p:txBody>
      </p:sp>
      <p:sp>
        <p:nvSpPr>
          <p:cNvPr id="107" name="Google Shape;107;p1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55000" lnSpcReduction="20000"/>
          </a:bodyPr>
          <a:lstStyle/>
          <a:p>
            <a:pPr indent="0" lvl="0" marL="0" rtl="0" algn="l">
              <a:spcBef>
                <a:spcPts val="1800"/>
              </a:spcBef>
              <a:spcAft>
                <a:spcPts val="0"/>
              </a:spcAft>
              <a:buNone/>
            </a:pPr>
            <a:r>
              <a:rPr b="1" lang="en" sz="2892">
                <a:solidFill>
                  <a:srgbClr val="000000"/>
                </a:solidFill>
                <a:latin typeface="Arial"/>
                <a:ea typeface="Arial"/>
                <a:cs typeface="Arial"/>
                <a:sym typeface="Arial"/>
              </a:rPr>
              <a:t>Step 3</a:t>
            </a:r>
            <a:endParaRPr b="1" sz="2892">
              <a:solidFill>
                <a:srgbClr val="000000"/>
              </a:solidFill>
              <a:latin typeface="Arial"/>
              <a:ea typeface="Arial"/>
              <a:cs typeface="Arial"/>
              <a:sym typeface="Arial"/>
            </a:endParaRPr>
          </a:p>
          <a:p>
            <a:pPr indent="0" lvl="0" marL="0" rtl="0" algn="l">
              <a:spcBef>
                <a:spcPts val="1400"/>
              </a:spcBef>
              <a:spcAft>
                <a:spcPts val="0"/>
              </a:spcAft>
              <a:buNone/>
            </a:pPr>
            <a:r>
              <a:rPr b="1" lang="en" sz="2182">
                <a:solidFill>
                  <a:srgbClr val="000000"/>
                </a:solidFill>
                <a:latin typeface="Arial"/>
                <a:ea typeface="Arial"/>
                <a:cs typeface="Arial"/>
                <a:sym typeface="Arial"/>
              </a:rPr>
              <a:t>logging_utils.py</a:t>
            </a:r>
            <a:endParaRPr b="1" sz="2182">
              <a:solidFill>
                <a:srgbClr val="000000"/>
              </a:solidFill>
              <a:latin typeface="Arial"/>
              <a:ea typeface="Arial"/>
              <a:cs typeface="Arial"/>
              <a:sym typeface="Arial"/>
            </a:endParaRPr>
          </a:p>
          <a:p>
            <a:pPr indent="0" lvl="0" marL="0" rtl="0" algn="l">
              <a:spcBef>
                <a:spcPts val="1200"/>
              </a:spcBef>
              <a:spcAft>
                <a:spcPts val="0"/>
              </a:spcAft>
              <a:buNone/>
            </a:pPr>
            <a:r>
              <a:rPr lang="en" sz="1750">
                <a:solidFill>
                  <a:srgbClr val="000000"/>
                </a:solidFill>
                <a:latin typeface="Arial"/>
                <a:ea typeface="Arial"/>
                <a:cs typeface="Arial"/>
                <a:sym typeface="Arial"/>
              </a:rPr>
              <a:t>Creates</a:t>
            </a:r>
            <a:endParaRPr sz="1750">
              <a:solidFill>
                <a:srgbClr val="000000"/>
              </a:solidFill>
              <a:latin typeface="Arial"/>
              <a:ea typeface="Arial"/>
              <a:cs typeface="Arial"/>
              <a:sym typeface="Arial"/>
            </a:endParaRPr>
          </a:p>
          <a:p>
            <a:pPr indent="-289719" lvl="0" marL="457200" rtl="0" algn="l">
              <a:spcBef>
                <a:spcPts val="1200"/>
              </a:spcBef>
              <a:spcAft>
                <a:spcPts val="0"/>
              </a:spcAft>
              <a:buClr>
                <a:srgbClr val="000000"/>
              </a:buClr>
              <a:buSzPct val="100000"/>
              <a:buFont typeface="Arial"/>
              <a:buChar char="●"/>
            </a:pPr>
            <a:r>
              <a:rPr lang="en" sz="1750">
                <a:solidFill>
                  <a:srgbClr val="000000"/>
                </a:solidFill>
                <a:latin typeface="Arial"/>
                <a:ea typeface="Arial"/>
                <a:cs typeface="Arial"/>
                <a:sym typeface="Arial"/>
              </a:rPr>
              <a:t>Console logger</a:t>
            </a:r>
            <a:endParaRPr sz="1750">
              <a:solidFill>
                <a:srgbClr val="000000"/>
              </a:solidFill>
              <a:latin typeface="Arial"/>
              <a:ea typeface="Arial"/>
              <a:cs typeface="Arial"/>
              <a:sym typeface="Arial"/>
            </a:endParaRPr>
          </a:p>
          <a:p>
            <a:pPr indent="-289719" lvl="0" marL="457200" rtl="0" algn="l">
              <a:spcBef>
                <a:spcPts val="0"/>
              </a:spcBef>
              <a:spcAft>
                <a:spcPts val="0"/>
              </a:spcAft>
              <a:buClr>
                <a:srgbClr val="000000"/>
              </a:buClr>
              <a:buSzPct val="100000"/>
              <a:buFont typeface="Arial"/>
              <a:buChar char="●"/>
            </a:pPr>
            <a:r>
              <a:rPr lang="en" sz="1750">
                <a:solidFill>
                  <a:srgbClr val="000000"/>
                </a:solidFill>
                <a:latin typeface="Arial"/>
                <a:ea typeface="Arial"/>
                <a:cs typeface="Arial"/>
                <a:sym typeface="Arial"/>
              </a:rPr>
              <a:t>File logger</a:t>
            </a:r>
            <a:endParaRPr sz="1750">
              <a:solidFill>
                <a:srgbClr val="000000"/>
              </a:solidFill>
              <a:latin typeface="Arial"/>
              <a:ea typeface="Arial"/>
              <a:cs typeface="Arial"/>
              <a:sym typeface="Arial"/>
            </a:endParaRPr>
          </a:p>
          <a:p>
            <a:pPr indent="0" lvl="0" marL="0" rtl="0" algn="l">
              <a:spcBef>
                <a:spcPts val="1200"/>
              </a:spcBef>
              <a:spcAft>
                <a:spcPts val="0"/>
              </a:spcAft>
              <a:buNone/>
            </a:pPr>
            <a:r>
              <a:rPr lang="en" sz="1750">
                <a:solidFill>
                  <a:srgbClr val="000000"/>
                </a:solidFill>
                <a:latin typeface="Arial"/>
                <a:ea typeface="Arial"/>
                <a:cs typeface="Arial"/>
                <a:sym typeface="Arial"/>
              </a:rPr>
              <a:t>Returns</a:t>
            </a:r>
            <a:r>
              <a:rPr lang="en" sz="1961">
                <a:solidFill>
                  <a:srgbClr val="000000"/>
                </a:solidFill>
                <a:latin typeface="Arial"/>
                <a:ea typeface="Arial"/>
                <a:cs typeface="Arial"/>
                <a:sym typeface="Arial"/>
              </a:rPr>
              <a:t>	</a:t>
            </a:r>
            <a:r>
              <a:rPr lang="en" sz="1750">
                <a:solidFill>
                  <a:srgbClr val="000000"/>
                </a:solidFill>
                <a:latin typeface="Arial"/>
                <a:ea typeface="Arial"/>
                <a:cs typeface="Arial"/>
                <a:sym typeface="Arial"/>
              </a:rPr>
              <a:t>logger</a:t>
            </a:r>
            <a:endParaRPr sz="175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4</a:t>
            </a:r>
            <a:endParaRPr/>
          </a:p>
        </p:txBody>
      </p:sp>
      <p:sp>
        <p:nvSpPr>
          <p:cNvPr id="113" name="Google Shape;113;p2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62500" lnSpcReduction="20000"/>
          </a:bodyPr>
          <a:lstStyle/>
          <a:p>
            <a:pPr indent="0" lvl="0" marL="0" rtl="0" algn="l">
              <a:spcBef>
                <a:spcPts val="1800"/>
              </a:spcBef>
              <a:spcAft>
                <a:spcPts val="0"/>
              </a:spcAft>
              <a:buNone/>
            </a:pPr>
            <a:r>
              <a:rPr b="1" lang="en" sz="2427">
                <a:solidFill>
                  <a:srgbClr val="000000"/>
                </a:solidFill>
                <a:latin typeface="Arial"/>
                <a:ea typeface="Arial"/>
                <a:cs typeface="Arial"/>
                <a:sym typeface="Arial"/>
              </a:rPr>
              <a:t>Step 4</a:t>
            </a:r>
            <a:endParaRPr b="1" sz="2427">
              <a:solidFill>
                <a:srgbClr val="000000"/>
              </a:solidFill>
              <a:latin typeface="Arial"/>
              <a:ea typeface="Arial"/>
              <a:cs typeface="Arial"/>
              <a:sym typeface="Arial"/>
            </a:endParaRPr>
          </a:p>
          <a:p>
            <a:pPr indent="0" lvl="0" marL="0" rtl="0" algn="l">
              <a:spcBef>
                <a:spcPts val="1400"/>
              </a:spcBef>
              <a:spcAft>
                <a:spcPts val="0"/>
              </a:spcAft>
              <a:buNone/>
            </a:pPr>
            <a:r>
              <a:rPr b="1" lang="en" sz="2113">
                <a:solidFill>
                  <a:srgbClr val="000000"/>
                </a:solidFill>
                <a:latin typeface="Arial"/>
                <a:ea typeface="Arial"/>
                <a:cs typeface="Arial"/>
                <a:sym typeface="Arial"/>
              </a:rPr>
              <a:t>extract.py</a:t>
            </a:r>
            <a:endParaRPr b="1" sz="2113">
              <a:solidFill>
                <a:srgbClr val="000000"/>
              </a:solidFill>
              <a:latin typeface="Arial"/>
              <a:ea typeface="Arial"/>
              <a:cs typeface="Arial"/>
              <a:sym typeface="Arial"/>
            </a:endParaRPr>
          </a:p>
          <a:p>
            <a:pPr indent="0" lvl="0" marL="0" rtl="0" algn="l">
              <a:spcBef>
                <a:spcPts val="1200"/>
              </a:spcBef>
              <a:spcAft>
                <a:spcPts val="0"/>
              </a:spcAft>
              <a:buNone/>
            </a:pPr>
            <a:r>
              <a:rPr lang="en" sz="2000">
                <a:solidFill>
                  <a:srgbClr val="000000"/>
                </a:solidFill>
                <a:latin typeface="Arial"/>
                <a:ea typeface="Arial"/>
                <a:cs typeface="Arial"/>
                <a:sym typeface="Arial"/>
              </a:rPr>
              <a:t>Reads	bios.csv</a:t>
            </a:r>
            <a:endParaRPr sz="2000">
              <a:solidFill>
                <a:srgbClr val="000000"/>
              </a:solidFill>
              <a:latin typeface="Arial"/>
              <a:ea typeface="Arial"/>
              <a:cs typeface="Arial"/>
              <a:sym typeface="Arial"/>
            </a:endParaRPr>
          </a:p>
          <a:p>
            <a:pPr indent="0" lvl="0" marL="0" rtl="0" algn="l">
              <a:spcBef>
                <a:spcPts val="1200"/>
              </a:spcBef>
              <a:spcAft>
                <a:spcPts val="0"/>
              </a:spcAft>
              <a:buNone/>
            </a:pPr>
            <a:r>
              <a:rPr lang="en" sz="2000">
                <a:solidFill>
                  <a:srgbClr val="000000"/>
                </a:solidFill>
                <a:latin typeface="Arial"/>
                <a:ea typeface="Arial"/>
                <a:cs typeface="Arial"/>
                <a:sym typeface="Arial"/>
              </a:rPr>
              <a:t>Returns	Pandas DataFrame</a:t>
            </a:r>
            <a:endParaRPr sz="2000">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5</a:t>
            </a:r>
            <a:endParaRPr/>
          </a:p>
        </p:txBody>
      </p:sp>
      <p:sp>
        <p:nvSpPr>
          <p:cNvPr id="119" name="Google Shape;119;p21"/>
          <p:cNvSpPr txBox="1"/>
          <p:nvPr>
            <p:ph idx="1" type="body"/>
          </p:nvPr>
        </p:nvSpPr>
        <p:spPr>
          <a:xfrm>
            <a:off x="313150" y="1906375"/>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n" sz="5200">
                <a:solidFill>
                  <a:srgbClr val="000000"/>
                </a:solidFill>
                <a:latin typeface="Arial"/>
                <a:ea typeface="Arial"/>
                <a:cs typeface="Arial"/>
                <a:sym typeface="Arial"/>
              </a:rPr>
              <a:t>Step 5</a:t>
            </a:r>
            <a:endParaRPr b="1" sz="5200">
              <a:solidFill>
                <a:srgbClr val="000000"/>
              </a:solidFill>
              <a:latin typeface="Arial"/>
              <a:ea typeface="Arial"/>
              <a:cs typeface="Arial"/>
              <a:sym typeface="Arial"/>
            </a:endParaRPr>
          </a:p>
          <a:p>
            <a:pPr indent="0" lvl="0" marL="0" rtl="0" algn="l">
              <a:spcBef>
                <a:spcPts val="1400"/>
              </a:spcBef>
              <a:spcAft>
                <a:spcPts val="0"/>
              </a:spcAft>
              <a:buNone/>
            </a:pPr>
            <a:r>
              <a:rPr b="1" lang="en" sz="4000">
                <a:solidFill>
                  <a:srgbClr val="000000"/>
                </a:solidFill>
                <a:latin typeface="Arial"/>
                <a:ea typeface="Arial"/>
                <a:cs typeface="Arial"/>
                <a:sym typeface="Arial"/>
              </a:rPr>
              <a:t>transform.py</a:t>
            </a:r>
            <a:endParaRPr b="1" sz="40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Performs</a:t>
            </a:r>
            <a:endParaRPr sz="32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ct val="100000"/>
              <a:buFont typeface="Arial"/>
              <a:buChar char="●"/>
            </a:pPr>
            <a:r>
              <a:rPr lang="en" sz="3200">
                <a:solidFill>
                  <a:srgbClr val="000000"/>
                </a:solidFill>
                <a:latin typeface="Arial"/>
                <a:ea typeface="Arial"/>
                <a:cs typeface="Arial"/>
                <a:sym typeface="Arial"/>
              </a:rPr>
              <a:t>Trim strings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Clean values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Normalize columns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Standardize data</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Returns	Clean DataFrame</a:t>
            </a:r>
            <a:endParaRPr sz="3200">
              <a:solidFill>
                <a:srgbClr val="000000"/>
              </a:solidFill>
              <a:latin typeface="Arial"/>
              <a:ea typeface="Arial"/>
              <a:cs typeface="Arial"/>
              <a:sym typeface="Arial"/>
            </a:endParaRPr>
          </a:p>
          <a:p>
            <a:pPr indent="0" lvl="0" marL="0" rtl="0" algn="l">
              <a:spcBef>
                <a:spcPts val="1200"/>
              </a:spcBef>
              <a:spcAft>
                <a:spcPts val="0"/>
              </a:spcAft>
              <a:buNone/>
            </a:pPr>
            <a:r>
              <a:t/>
            </a:r>
            <a:endParaRPr b="1" sz="2427">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6</a:t>
            </a:r>
            <a:endParaRPr/>
          </a:p>
        </p:txBody>
      </p:sp>
      <p:sp>
        <p:nvSpPr>
          <p:cNvPr id="125" name="Google Shape;125;p22"/>
          <p:cNvSpPr txBox="1"/>
          <p:nvPr>
            <p:ph idx="1" type="body"/>
          </p:nvPr>
        </p:nvSpPr>
        <p:spPr>
          <a:xfrm>
            <a:off x="313150" y="1906375"/>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n" sz="5200">
                <a:solidFill>
                  <a:srgbClr val="000000"/>
                </a:solidFill>
                <a:latin typeface="Arial"/>
                <a:ea typeface="Arial"/>
                <a:cs typeface="Arial"/>
                <a:sym typeface="Arial"/>
              </a:rPr>
              <a:t>Step 6</a:t>
            </a:r>
            <a:endParaRPr b="1" sz="5200">
              <a:solidFill>
                <a:srgbClr val="000000"/>
              </a:solidFill>
              <a:latin typeface="Arial"/>
              <a:ea typeface="Arial"/>
              <a:cs typeface="Arial"/>
              <a:sym typeface="Arial"/>
            </a:endParaRPr>
          </a:p>
          <a:p>
            <a:pPr indent="0" lvl="0" marL="0" rtl="0" algn="l">
              <a:spcBef>
                <a:spcPts val="1400"/>
              </a:spcBef>
              <a:spcAft>
                <a:spcPts val="0"/>
              </a:spcAft>
              <a:buNone/>
            </a:pPr>
            <a:r>
              <a:rPr b="1" lang="en" sz="4000">
                <a:solidFill>
                  <a:srgbClr val="000000"/>
                </a:solidFill>
                <a:latin typeface="Arial"/>
                <a:ea typeface="Arial"/>
                <a:cs typeface="Arial"/>
                <a:sym typeface="Arial"/>
              </a:rPr>
              <a:t>validator.py</a:t>
            </a:r>
            <a:endParaRPr b="1" sz="40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Checks</a:t>
            </a:r>
            <a:endParaRPr sz="32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ct val="100000"/>
              <a:buFont typeface="Arial"/>
              <a:buChar char="●"/>
            </a:pPr>
            <a:r>
              <a:rPr lang="en" sz="3200">
                <a:solidFill>
                  <a:srgbClr val="000000"/>
                </a:solidFill>
                <a:latin typeface="Arial"/>
                <a:ea typeface="Arial"/>
                <a:cs typeface="Arial"/>
                <a:sym typeface="Arial"/>
              </a:rPr>
              <a:t>String lengths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Numeric ranges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Dates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Nulls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Produces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Valid DataFrame</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Reject DataFrame</a:t>
            </a:r>
            <a:endParaRPr sz="3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2427">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7</a:t>
            </a:r>
            <a:endParaRPr/>
          </a:p>
        </p:txBody>
      </p:sp>
      <p:sp>
        <p:nvSpPr>
          <p:cNvPr id="131" name="Google Shape;131;p23"/>
          <p:cNvSpPr txBox="1"/>
          <p:nvPr>
            <p:ph idx="1" type="body"/>
          </p:nvPr>
        </p:nvSpPr>
        <p:spPr>
          <a:xfrm>
            <a:off x="313150" y="1906375"/>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n" sz="5200">
                <a:solidFill>
                  <a:srgbClr val="000000"/>
                </a:solidFill>
                <a:latin typeface="Arial"/>
                <a:ea typeface="Arial"/>
                <a:cs typeface="Arial"/>
                <a:sym typeface="Arial"/>
              </a:rPr>
              <a:t>Step 7</a:t>
            </a:r>
            <a:endParaRPr b="1" sz="5200">
              <a:solidFill>
                <a:srgbClr val="000000"/>
              </a:solidFill>
              <a:latin typeface="Arial"/>
              <a:ea typeface="Arial"/>
              <a:cs typeface="Arial"/>
              <a:sym typeface="Arial"/>
            </a:endParaRPr>
          </a:p>
          <a:p>
            <a:pPr indent="0" lvl="0" marL="0" rtl="0" algn="l">
              <a:spcBef>
                <a:spcPts val="1400"/>
              </a:spcBef>
              <a:spcAft>
                <a:spcPts val="0"/>
              </a:spcAft>
              <a:buNone/>
            </a:pPr>
            <a:r>
              <a:rPr b="1" lang="en" sz="4000">
                <a:solidFill>
                  <a:srgbClr val="000000"/>
                </a:solidFill>
                <a:latin typeface="Arial"/>
                <a:ea typeface="Arial"/>
                <a:cs typeface="Arial"/>
                <a:sym typeface="Arial"/>
              </a:rPr>
              <a:t>Hash Deduplication</a:t>
            </a:r>
            <a:endParaRPr b="1" sz="40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Creates	Row Hash</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Finds duplicates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Keeps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First occurrence</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Removes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Duplicates</a:t>
            </a:r>
            <a:endParaRPr sz="3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2427">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8 </a:t>
            </a:r>
            <a:endParaRPr/>
          </a:p>
        </p:txBody>
      </p:sp>
      <p:sp>
        <p:nvSpPr>
          <p:cNvPr id="137" name="Google Shape;137;p24"/>
          <p:cNvSpPr txBox="1"/>
          <p:nvPr>
            <p:ph idx="1" type="body"/>
          </p:nvPr>
        </p:nvSpPr>
        <p:spPr>
          <a:xfrm>
            <a:off x="313150" y="1906375"/>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n" sz="5200">
                <a:solidFill>
                  <a:srgbClr val="000000"/>
                </a:solidFill>
                <a:latin typeface="Arial"/>
                <a:ea typeface="Arial"/>
                <a:cs typeface="Arial"/>
                <a:sym typeface="Arial"/>
              </a:rPr>
              <a:t>Step 8</a:t>
            </a:r>
            <a:endParaRPr b="1" sz="5200">
              <a:solidFill>
                <a:srgbClr val="000000"/>
              </a:solidFill>
              <a:latin typeface="Arial"/>
              <a:ea typeface="Arial"/>
              <a:cs typeface="Arial"/>
              <a:sym typeface="Arial"/>
            </a:endParaRPr>
          </a:p>
          <a:p>
            <a:pPr indent="0" lvl="0" marL="0" rtl="0" algn="l">
              <a:spcBef>
                <a:spcPts val="1400"/>
              </a:spcBef>
              <a:spcAft>
                <a:spcPts val="0"/>
              </a:spcAft>
              <a:buNone/>
            </a:pPr>
            <a:r>
              <a:rPr b="1" lang="en" sz="4000">
                <a:solidFill>
                  <a:srgbClr val="000000"/>
                </a:solidFill>
                <a:latin typeface="Arial"/>
                <a:ea typeface="Arial"/>
                <a:cs typeface="Arial"/>
                <a:sym typeface="Arial"/>
              </a:rPr>
              <a:t>db.py</a:t>
            </a:r>
            <a:endParaRPr b="1" sz="40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Writes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Valid rows	dbo.Athletes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Writes rejects	dbo.Athletes_Rejects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Writes metrics	dbo.ETL_Audit_Run</a:t>
            </a:r>
            <a:endParaRPr sz="3200">
              <a:solidFill>
                <a:srgbClr val="000000"/>
              </a:solidFill>
              <a:latin typeface="Arial"/>
              <a:ea typeface="Arial"/>
              <a:cs typeface="Arial"/>
              <a:sym typeface="Arial"/>
            </a:endParaRPr>
          </a:p>
          <a:p>
            <a:pPr indent="0" lvl="0" marL="0" rtl="0" algn="l">
              <a:spcBef>
                <a:spcPts val="1200"/>
              </a:spcBef>
              <a:spcAft>
                <a:spcPts val="0"/>
              </a:spcAft>
              <a:buNone/>
            </a:pPr>
            <a:r>
              <a:t/>
            </a:r>
            <a:endParaRPr b="1" sz="3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2427">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Execution Flow (the Story) part 9 </a:t>
            </a:r>
            <a:endParaRPr/>
          </a:p>
        </p:txBody>
      </p:sp>
      <p:sp>
        <p:nvSpPr>
          <p:cNvPr id="143" name="Google Shape;143;p25"/>
          <p:cNvSpPr txBox="1"/>
          <p:nvPr>
            <p:ph idx="1" type="body"/>
          </p:nvPr>
        </p:nvSpPr>
        <p:spPr>
          <a:xfrm>
            <a:off x="313150" y="1906375"/>
            <a:ext cx="8222100" cy="2710200"/>
          </a:xfrm>
          <a:prstGeom prst="rect">
            <a:avLst/>
          </a:prstGeom>
        </p:spPr>
        <p:txBody>
          <a:bodyPr anchorCtr="0" anchor="t" bIns="91425" lIns="91425" spcFirstLastPara="1" rIns="91425" wrap="square" tIns="91425">
            <a:normAutofit fontScale="25000" lnSpcReduction="20000"/>
          </a:bodyPr>
          <a:lstStyle/>
          <a:p>
            <a:pPr indent="0" lvl="0" marL="0" rtl="0" algn="l">
              <a:spcBef>
                <a:spcPts val="1800"/>
              </a:spcBef>
              <a:spcAft>
                <a:spcPts val="0"/>
              </a:spcAft>
              <a:buNone/>
            </a:pPr>
            <a:r>
              <a:rPr b="1" lang="en" sz="5200">
                <a:solidFill>
                  <a:srgbClr val="000000"/>
                </a:solidFill>
                <a:latin typeface="Arial"/>
                <a:ea typeface="Arial"/>
                <a:cs typeface="Arial"/>
                <a:sym typeface="Arial"/>
              </a:rPr>
              <a:t>Step 9</a:t>
            </a:r>
            <a:endParaRPr b="1" sz="5200">
              <a:solidFill>
                <a:srgbClr val="000000"/>
              </a:solidFill>
              <a:latin typeface="Arial"/>
              <a:ea typeface="Arial"/>
              <a:cs typeface="Arial"/>
              <a:sym typeface="Arial"/>
            </a:endParaRPr>
          </a:p>
          <a:p>
            <a:pPr indent="0" lvl="0" marL="0" rtl="0" algn="l">
              <a:spcBef>
                <a:spcPts val="1400"/>
              </a:spcBef>
              <a:spcAft>
                <a:spcPts val="0"/>
              </a:spcAft>
              <a:buNone/>
            </a:pPr>
            <a:r>
              <a:rPr b="1" lang="en" sz="4000">
                <a:solidFill>
                  <a:srgbClr val="000000"/>
                </a:solidFill>
                <a:latin typeface="Arial"/>
                <a:ea typeface="Arial"/>
                <a:cs typeface="Arial"/>
                <a:sym typeface="Arial"/>
              </a:rPr>
              <a:t>main.py</a:t>
            </a:r>
            <a:endParaRPr b="1" sz="40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Displays</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ETL completed successfully</a:t>
            </a:r>
            <a:endParaRPr sz="3200">
              <a:solidFill>
                <a:srgbClr val="000000"/>
              </a:solidFill>
              <a:latin typeface="Arial"/>
              <a:ea typeface="Arial"/>
              <a:cs typeface="Arial"/>
              <a:sym typeface="Arial"/>
            </a:endParaRPr>
          </a:p>
          <a:p>
            <a:pPr indent="0" lvl="0" marL="0" rtl="0" algn="l">
              <a:spcBef>
                <a:spcPts val="1200"/>
              </a:spcBef>
              <a:spcAft>
                <a:spcPts val="0"/>
              </a:spcAft>
              <a:buNone/>
            </a:pPr>
            <a:r>
              <a:rPr lang="en" sz="3200">
                <a:solidFill>
                  <a:srgbClr val="000000"/>
                </a:solidFill>
                <a:latin typeface="Arial"/>
                <a:ea typeface="Arial"/>
                <a:cs typeface="Arial"/>
                <a:sym typeface="Arial"/>
              </a:rPr>
              <a:t>Logs</a:t>
            </a:r>
            <a:endParaRPr sz="3200">
              <a:solidFill>
                <a:srgbClr val="000000"/>
              </a:solidFill>
              <a:latin typeface="Arial"/>
              <a:ea typeface="Arial"/>
              <a:cs typeface="Arial"/>
              <a:sym typeface="Arial"/>
            </a:endParaRPr>
          </a:p>
          <a:p>
            <a:pPr indent="-279400" lvl="0" marL="457200" rtl="0" algn="l">
              <a:spcBef>
                <a:spcPts val="1200"/>
              </a:spcBef>
              <a:spcAft>
                <a:spcPts val="0"/>
              </a:spcAft>
              <a:buClr>
                <a:srgbClr val="000000"/>
              </a:buClr>
              <a:buSzPct val="100000"/>
              <a:buFont typeface="Arial"/>
              <a:buChar char="●"/>
            </a:pPr>
            <a:r>
              <a:rPr lang="en" sz="3200">
                <a:solidFill>
                  <a:srgbClr val="000000"/>
                </a:solidFill>
                <a:latin typeface="Arial"/>
                <a:ea typeface="Arial"/>
                <a:cs typeface="Arial"/>
                <a:sym typeface="Arial"/>
              </a:rPr>
              <a:t>Execution time</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Rows loaded</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Rejects</a:t>
            </a:r>
            <a:endParaRPr sz="3200">
              <a:solidFill>
                <a:srgbClr val="000000"/>
              </a:solidFill>
              <a:latin typeface="Arial"/>
              <a:ea typeface="Arial"/>
              <a:cs typeface="Arial"/>
              <a:sym typeface="Arial"/>
            </a:endParaRPr>
          </a:p>
          <a:p>
            <a:pPr indent="-279400" lvl="0" marL="457200" rtl="0" algn="l">
              <a:spcBef>
                <a:spcPts val="0"/>
              </a:spcBef>
              <a:spcAft>
                <a:spcPts val="0"/>
              </a:spcAft>
              <a:buClr>
                <a:srgbClr val="000000"/>
              </a:buClr>
              <a:buSzPct val="100000"/>
              <a:buFont typeface="Arial"/>
              <a:buChar char="●"/>
            </a:pPr>
            <a:r>
              <a:rPr lang="en" sz="3200">
                <a:solidFill>
                  <a:srgbClr val="000000"/>
                </a:solidFill>
                <a:latin typeface="Arial"/>
                <a:ea typeface="Arial"/>
                <a:cs typeface="Arial"/>
                <a:sym typeface="Arial"/>
              </a:rPr>
              <a:t>Duplicates</a:t>
            </a:r>
            <a:endParaRPr sz="3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3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2427">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6"/>
          <p:cNvSpPr txBox="1"/>
          <p:nvPr>
            <p:ph type="title"/>
          </p:nvPr>
        </p:nvSpPr>
        <p:spPr>
          <a:xfrm>
            <a:off x="471900" y="738725"/>
            <a:ext cx="8222100" cy="76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a:t>Sequence Diagram (</a:t>
            </a:r>
            <a:r>
              <a:rPr lang="en" sz="2756"/>
              <a:t>In what order </a:t>
            </a:r>
            <a:endParaRPr sz="2756"/>
          </a:p>
          <a:p>
            <a:pPr indent="0" lvl="0" marL="0" rtl="0" algn="l">
              <a:spcBef>
                <a:spcPts val="0"/>
              </a:spcBef>
              <a:spcAft>
                <a:spcPts val="0"/>
              </a:spcAft>
              <a:buNone/>
            </a:pPr>
            <a:r>
              <a:rPr lang="en" sz="2756"/>
              <a:t>are they executed?</a:t>
            </a:r>
            <a:r>
              <a:rPr lang="en"/>
              <a:t> ) </a:t>
            </a:r>
            <a:endParaRPr/>
          </a:p>
        </p:txBody>
      </p:sp>
      <p:sp>
        <p:nvSpPr>
          <p:cNvPr id="149" name="Google Shape;149;p26"/>
          <p:cNvSpPr txBox="1"/>
          <p:nvPr>
            <p:ph idx="1" type="body"/>
          </p:nvPr>
        </p:nvSpPr>
        <p:spPr>
          <a:xfrm>
            <a:off x="313150" y="1906375"/>
            <a:ext cx="8222100" cy="2710200"/>
          </a:xfrm>
          <a:prstGeom prst="rect">
            <a:avLst/>
          </a:prstGeom>
        </p:spPr>
        <p:txBody>
          <a:bodyPr anchorCtr="0" anchor="t" bIns="91425" lIns="91425" spcFirstLastPara="1" rIns="91425" wrap="square" tIns="91425">
            <a:normAutofit fontScale="40000" lnSpcReduction="10000"/>
          </a:bodyPr>
          <a:lstStyle/>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3200">
              <a:solidFill>
                <a:srgbClr val="000000"/>
              </a:solidFill>
              <a:latin typeface="Arial"/>
              <a:ea typeface="Arial"/>
              <a:cs typeface="Arial"/>
              <a:sym typeface="Arial"/>
            </a:endParaRPr>
          </a:p>
          <a:p>
            <a:pPr indent="0" lvl="0" marL="0" rtl="0" algn="l">
              <a:spcBef>
                <a:spcPts val="1200"/>
              </a:spcBef>
              <a:spcAft>
                <a:spcPts val="0"/>
              </a:spcAft>
              <a:buNone/>
            </a:pPr>
            <a:r>
              <a:t/>
            </a:r>
            <a:endParaRPr b="1" sz="5200">
              <a:solidFill>
                <a:srgbClr val="000000"/>
              </a:solidFill>
              <a:latin typeface="Arial"/>
              <a:ea typeface="Arial"/>
              <a:cs typeface="Arial"/>
              <a:sym typeface="Arial"/>
            </a:endParaRPr>
          </a:p>
          <a:p>
            <a:pPr indent="0" lvl="0" marL="0" rtl="0" algn="l">
              <a:spcBef>
                <a:spcPts val="1200"/>
              </a:spcBef>
              <a:spcAft>
                <a:spcPts val="0"/>
              </a:spcAft>
              <a:buNone/>
            </a:pPr>
            <a:r>
              <a:t/>
            </a:r>
            <a:endParaRPr b="1" sz="2427">
              <a:solidFill>
                <a:srgbClr val="000000"/>
              </a:solidFill>
              <a:latin typeface="Arial"/>
              <a:ea typeface="Arial"/>
              <a:cs typeface="Arial"/>
              <a:sym typeface="Arial"/>
            </a:endParaRPr>
          </a:p>
          <a:p>
            <a:pPr indent="0" lvl="0" marL="0" rtl="0" algn="l">
              <a:spcBef>
                <a:spcPts val="1200"/>
              </a:spcBef>
              <a:spcAft>
                <a:spcPts val="0"/>
              </a:spcAft>
              <a:buNone/>
            </a:pPr>
            <a:r>
              <a:t/>
            </a:r>
            <a:endParaRPr b="1" sz="2000">
              <a:solidFill>
                <a:srgbClr val="000000"/>
              </a:solidFill>
              <a:latin typeface="Arial"/>
              <a:ea typeface="Arial"/>
              <a:cs typeface="Arial"/>
              <a:sym typeface="Arial"/>
            </a:endParaRPr>
          </a:p>
          <a:p>
            <a:pPr indent="0" lvl="0" marL="0" rtl="0" algn="l">
              <a:spcBef>
                <a:spcPts val="1200"/>
              </a:spcBef>
              <a:spcAft>
                <a:spcPts val="0"/>
              </a:spcAft>
              <a:buNone/>
            </a:pPr>
            <a:r>
              <a:t/>
            </a:r>
            <a:endParaRPr b="1" sz="3250">
              <a:solidFill>
                <a:srgbClr val="000000"/>
              </a:solidFill>
              <a:latin typeface="Arial"/>
              <a:ea typeface="Arial"/>
              <a:cs typeface="Arial"/>
              <a:sym typeface="Arial"/>
            </a:endParaRPr>
          </a:p>
          <a:p>
            <a:pPr indent="0" lvl="0" marL="0" rtl="0" algn="l">
              <a:spcBef>
                <a:spcPts val="1200"/>
              </a:spcBef>
              <a:spcAft>
                <a:spcPts val="0"/>
              </a:spcAft>
              <a:buNone/>
            </a:pPr>
            <a:r>
              <a:t/>
            </a:r>
            <a:endParaRPr/>
          </a:p>
          <a:p>
            <a:pPr indent="0" lvl="0" marL="0" rtl="0" algn="l">
              <a:spcBef>
                <a:spcPts val="0"/>
              </a:spcBef>
              <a:spcAft>
                <a:spcPts val="1200"/>
              </a:spcAft>
              <a:buNone/>
            </a:pPr>
            <a:r>
              <a:t/>
            </a:r>
            <a:endParaRPr/>
          </a:p>
        </p:txBody>
      </p:sp>
      <p:pic>
        <p:nvPicPr>
          <p:cNvPr id="150" name="Google Shape;150;p26"/>
          <p:cNvPicPr preferRelativeResize="0"/>
          <p:nvPr/>
        </p:nvPicPr>
        <p:blipFill>
          <a:blip r:embed="rId3">
            <a:alphaModFix/>
          </a:blip>
          <a:stretch>
            <a:fillRect/>
          </a:stretch>
        </p:blipFill>
        <p:spPr>
          <a:xfrm>
            <a:off x="6094875" y="29625"/>
            <a:ext cx="2567650" cy="49784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Folder Structure</a:t>
            </a:r>
            <a:endParaRPr/>
          </a:p>
        </p:txBody>
      </p:sp>
      <p:pic>
        <p:nvPicPr>
          <p:cNvPr id="156" name="Google Shape;156;p27"/>
          <p:cNvPicPr preferRelativeResize="0"/>
          <p:nvPr/>
        </p:nvPicPr>
        <p:blipFill>
          <a:blip r:embed="rId3">
            <a:alphaModFix/>
          </a:blip>
          <a:stretch>
            <a:fillRect/>
          </a:stretch>
        </p:blipFill>
        <p:spPr>
          <a:xfrm>
            <a:off x="4737575" y="309775"/>
            <a:ext cx="3669350" cy="49271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Data Flow Diagram</a:t>
            </a:r>
            <a:endParaRPr/>
          </a:p>
        </p:txBody>
      </p:sp>
      <p:sp>
        <p:nvSpPr>
          <p:cNvPr id="162" name="Google Shape;162;p28"/>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1018"/>
              <a:buNone/>
            </a:pPr>
            <a:r>
              <a:t/>
            </a:r>
            <a:endParaRPr sz="1665"/>
          </a:p>
        </p:txBody>
      </p:sp>
      <p:pic>
        <p:nvPicPr>
          <p:cNvPr id="163" name="Google Shape;163;p28"/>
          <p:cNvPicPr preferRelativeResize="0"/>
          <p:nvPr/>
        </p:nvPicPr>
        <p:blipFill>
          <a:blip r:embed="rId3">
            <a:alphaModFix/>
          </a:blip>
          <a:stretch>
            <a:fillRect/>
          </a:stretch>
        </p:blipFill>
        <p:spPr>
          <a:xfrm>
            <a:off x="5282386" y="64100"/>
            <a:ext cx="1726350" cy="51434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SQL Server Objects</a:t>
            </a:r>
            <a:endParaRPr/>
          </a:p>
        </p:txBody>
      </p:sp>
      <p:sp>
        <p:nvSpPr>
          <p:cNvPr id="169" name="Google Shape;169;p2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b="1" lang="en" sz="1400">
                <a:solidFill>
                  <a:srgbClr val="000000"/>
                </a:solidFill>
                <a:latin typeface="Arial"/>
                <a:ea typeface="Arial"/>
                <a:cs typeface="Arial"/>
                <a:sym typeface="Arial"/>
              </a:rPr>
              <a:t>Tables</a:t>
            </a:r>
            <a:endParaRPr b="1" sz="1400">
              <a:solidFill>
                <a:srgbClr val="000000"/>
              </a:solidFill>
              <a:latin typeface="Arial"/>
              <a:ea typeface="Arial"/>
              <a:cs typeface="Arial"/>
              <a:sym typeface="Arial"/>
            </a:endParaRPr>
          </a:p>
          <a:p>
            <a:pPr indent="0" lvl="0" marL="0" rtl="0" algn="l">
              <a:spcBef>
                <a:spcPts val="400"/>
              </a:spcBef>
              <a:spcAft>
                <a:spcPts val="0"/>
              </a:spcAft>
              <a:buNone/>
            </a:pPr>
            <a:r>
              <a:rPr lang="en" sz="1100">
                <a:solidFill>
                  <a:srgbClr val="000000"/>
                </a:solidFill>
                <a:latin typeface="Arial"/>
                <a:ea typeface="Arial"/>
                <a:cs typeface="Arial"/>
                <a:sym typeface="Arial"/>
              </a:rPr>
              <a:t>dbo.Athletes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dbo.Athletes_Rejects</a:t>
            </a:r>
            <a:endParaRPr sz="1100">
              <a:solidFill>
                <a:srgbClr val="000000"/>
              </a:solidFill>
              <a:latin typeface="Arial"/>
              <a:ea typeface="Arial"/>
              <a:cs typeface="Arial"/>
              <a:sym typeface="Arial"/>
            </a:endParaRPr>
          </a:p>
          <a:p>
            <a:pPr indent="0" lvl="0" marL="0" rtl="0" algn="l">
              <a:spcBef>
                <a:spcPts val="0"/>
              </a:spcBef>
              <a:spcAft>
                <a:spcPts val="0"/>
              </a:spcAft>
              <a:buNone/>
            </a:pPr>
            <a:r>
              <a:rPr lang="en" sz="1100">
                <a:solidFill>
                  <a:srgbClr val="000000"/>
                </a:solidFill>
                <a:latin typeface="Arial"/>
                <a:ea typeface="Arial"/>
                <a:cs typeface="Arial"/>
                <a:sym typeface="Arial"/>
              </a:rPr>
              <a:t>dbo.ETL_Audit_Run</a:t>
            </a:r>
            <a:endParaRPr sz="1100">
              <a:solidFill>
                <a:srgbClr val="000000"/>
              </a:solidFill>
              <a:latin typeface="Arial"/>
              <a:ea typeface="Arial"/>
              <a:cs typeface="Arial"/>
              <a:sym typeface="Arial"/>
            </a:endParaRPr>
          </a:p>
          <a:p>
            <a:pPr indent="0" lvl="0" marL="0" rtl="0" algn="l">
              <a:spcBef>
                <a:spcPts val="0"/>
              </a:spcBef>
              <a:spcAft>
                <a:spcPts val="0"/>
              </a:spcAft>
              <a:buNone/>
            </a:pPr>
            <a:r>
              <a:t/>
            </a:r>
            <a:endParaRPr sz="1100">
              <a:solidFill>
                <a:srgbClr val="000000"/>
              </a:solidFill>
              <a:latin typeface="Arial"/>
              <a:ea typeface="Arial"/>
              <a:cs typeface="Arial"/>
              <a:sym typeface="Arial"/>
            </a:endParaRPr>
          </a:p>
        </p:txBody>
      </p:sp>
      <p:graphicFrame>
        <p:nvGraphicFramePr>
          <p:cNvPr id="170" name="Google Shape;170;p29"/>
          <p:cNvGraphicFramePr/>
          <p:nvPr/>
        </p:nvGraphicFramePr>
        <p:xfrm>
          <a:off x="471900" y="3034425"/>
          <a:ext cx="3000000" cy="3000000"/>
        </p:xfrm>
        <a:graphic>
          <a:graphicData uri="http://schemas.openxmlformats.org/drawingml/2006/table">
            <a:tbl>
              <a:tblPr>
                <a:noFill/>
                <a:tableStyleId>{9B9CF8BF-FF69-4DA6-9BF6-C0AA42536C0E}</a:tableStyleId>
              </a:tblPr>
              <a:tblGrid>
                <a:gridCol w="1904150"/>
                <a:gridCol w="1904150"/>
              </a:tblGrid>
              <a:tr h="100000">
                <a:tc>
                  <a:txBody>
                    <a:bodyPr/>
                    <a:lstStyle/>
                    <a:p>
                      <a:pPr indent="0" lvl="0" marL="0" rtl="0" algn="l">
                        <a:spcBef>
                          <a:spcPts val="0"/>
                        </a:spcBef>
                        <a:spcAft>
                          <a:spcPts val="0"/>
                        </a:spcAft>
                        <a:buNone/>
                      </a:pPr>
                      <a:r>
                        <a:rPr lang="en"/>
                        <a:t>Table</a:t>
                      </a:r>
                      <a:endParaRPr/>
                    </a:p>
                  </a:txBody>
                  <a:tcPr marT="91425" marB="91425" marR="91425" marL="91425"/>
                </a:tc>
                <a:tc>
                  <a:txBody>
                    <a:bodyPr/>
                    <a:lstStyle/>
                    <a:p>
                      <a:pPr indent="0" lvl="0" marL="0" rtl="0" algn="l">
                        <a:spcBef>
                          <a:spcPts val="0"/>
                        </a:spcBef>
                        <a:spcAft>
                          <a:spcPts val="0"/>
                        </a:spcAft>
                        <a:buNone/>
                      </a:pPr>
                      <a:r>
                        <a:rPr lang="en"/>
                        <a:t>Purpose</a:t>
                      </a:r>
                      <a:endParaRPr/>
                    </a:p>
                  </a:txBody>
                  <a:tcPr marT="91425" marB="91425" marR="91425" marL="91425"/>
                </a:tc>
              </a:tr>
              <a:tr h="381000">
                <a:tc>
                  <a:txBody>
                    <a:bodyPr/>
                    <a:lstStyle/>
                    <a:p>
                      <a:pPr indent="0" lvl="0" marL="0" rtl="0" algn="l">
                        <a:spcBef>
                          <a:spcPts val="0"/>
                        </a:spcBef>
                        <a:spcAft>
                          <a:spcPts val="0"/>
                        </a:spcAft>
                        <a:buNone/>
                      </a:pPr>
                      <a:r>
                        <a:rPr lang="en"/>
                        <a:t>Athletes</a:t>
                      </a:r>
                      <a:endParaRPr/>
                    </a:p>
                  </a:txBody>
                  <a:tcPr marT="91425" marB="91425" marR="91425" marL="91425"/>
                </a:tc>
                <a:tc>
                  <a:txBody>
                    <a:bodyPr/>
                    <a:lstStyle/>
                    <a:p>
                      <a:pPr indent="0" lvl="0" marL="0" rtl="0" algn="l">
                        <a:spcBef>
                          <a:spcPts val="0"/>
                        </a:spcBef>
                        <a:spcAft>
                          <a:spcPts val="0"/>
                        </a:spcAft>
                        <a:buNone/>
                      </a:pPr>
                      <a:r>
                        <a:rPr lang="en"/>
                        <a:t>Final clean data</a:t>
                      </a:r>
                      <a:endParaRPr/>
                    </a:p>
                  </a:txBody>
                  <a:tcPr marT="91425" marB="91425" marR="91425" marL="91425"/>
                </a:tc>
              </a:tr>
              <a:tr h="381000">
                <a:tc>
                  <a:txBody>
                    <a:bodyPr/>
                    <a:lstStyle/>
                    <a:p>
                      <a:pPr indent="0" lvl="0" marL="0" rtl="0" algn="l">
                        <a:spcBef>
                          <a:spcPts val="0"/>
                        </a:spcBef>
                        <a:spcAft>
                          <a:spcPts val="0"/>
                        </a:spcAft>
                        <a:buNone/>
                      </a:pPr>
                      <a:r>
                        <a:rPr lang="en"/>
                        <a:t>Athletes_Rejects</a:t>
                      </a:r>
                      <a:endParaRPr/>
                    </a:p>
                  </a:txBody>
                  <a:tcPr marT="91425" marB="91425" marR="91425" marL="91425"/>
                </a:tc>
                <a:tc>
                  <a:txBody>
                    <a:bodyPr/>
                    <a:lstStyle/>
                    <a:p>
                      <a:pPr indent="0" lvl="0" marL="0" rtl="0" algn="l">
                        <a:spcBef>
                          <a:spcPts val="0"/>
                        </a:spcBef>
                        <a:spcAft>
                          <a:spcPts val="0"/>
                        </a:spcAft>
                        <a:buNone/>
                      </a:pPr>
                      <a:r>
                        <a:rPr lang="en"/>
                        <a:t>Invalid rows</a:t>
                      </a:r>
                      <a:endParaRPr/>
                    </a:p>
                  </a:txBody>
                  <a:tcPr marT="91425" marB="91425" marR="91425" marL="91425"/>
                </a:tc>
              </a:tr>
              <a:tr h="381000">
                <a:tc>
                  <a:txBody>
                    <a:bodyPr/>
                    <a:lstStyle/>
                    <a:p>
                      <a:pPr indent="0" lvl="0" marL="0" rtl="0" algn="l">
                        <a:spcBef>
                          <a:spcPts val="0"/>
                        </a:spcBef>
                        <a:spcAft>
                          <a:spcPts val="0"/>
                        </a:spcAft>
                        <a:buNone/>
                      </a:pPr>
                      <a:r>
                        <a:rPr lang="en"/>
                        <a:t>ETL_Audit_Run</a:t>
                      </a:r>
                      <a:endParaRPr/>
                    </a:p>
                  </a:txBody>
                  <a:tcPr marT="91425" marB="91425" marR="91425" marL="91425"/>
                </a:tc>
                <a:tc>
                  <a:txBody>
                    <a:bodyPr/>
                    <a:lstStyle/>
                    <a:p>
                      <a:pPr indent="0" lvl="0" marL="0" rtl="0" algn="l">
                        <a:spcBef>
                          <a:spcPts val="0"/>
                        </a:spcBef>
                        <a:spcAft>
                          <a:spcPts val="0"/>
                        </a:spcAft>
                        <a:buNone/>
                      </a:pPr>
                      <a:r>
                        <a:rPr lang="en"/>
                        <a:t>ETL metrics</a:t>
                      </a:r>
                      <a:endParaRPr/>
                    </a:p>
                  </a:txBody>
                  <a:tcPr marT="91425" marB="91425" marR="91425" marL="91425"/>
                </a:tc>
              </a:tr>
            </a:tbl>
          </a:graphicData>
        </a:graphic>
      </p:graphicFrame>
      <p:pic>
        <p:nvPicPr>
          <p:cNvPr id="171" name="Google Shape;171;p29"/>
          <p:cNvPicPr preferRelativeResize="0"/>
          <p:nvPr/>
        </p:nvPicPr>
        <p:blipFill>
          <a:blip r:embed="rId3">
            <a:alphaModFix/>
          </a:blip>
          <a:stretch>
            <a:fillRect/>
          </a:stretch>
        </p:blipFill>
        <p:spPr>
          <a:xfrm>
            <a:off x="5109125" y="1772700"/>
            <a:ext cx="3123750" cy="33337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Validation Rules</a:t>
            </a:r>
            <a:endParaRPr/>
          </a:p>
        </p:txBody>
      </p:sp>
      <p:sp>
        <p:nvSpPr>
          <p:cNvPr id="177" name="Google Shape;177;p3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String Length Checks</a:t>
            </a:r>
            <a:endParaRPr/>
          </a:p>
          <a:p>
            <a:pPr indent="-310832" lvl="1" marL="914400" rtl="0" algn="l">
              <a:spcBef>
                <a:spcPts val="0"/>
              </a:spcBef>
              <a:spcAft>
                <a:spcPts val="0"/>
              </a:spcAft>
              <a:buSzPct val="100000"/>
              <a:buChar char="○"/>
            </a:pPr>
            <a:r>
              <a:rPr lang="en"/>
              <a:t>name &lt;= 200 </a:t>
            </a:r>
            <a:endParaRPr/>
          </a:p>
          <a:p>
            <a:pPr indent="-310832" lvl="1" marL="914400" rtl="0" algn="l">
              <a:spcBef>
                <a:spcPts val="0"/>
              </a:spcBef>
              <a:spcAft>
                <a:spcPts val="0"/>
              </a:spcAft>
              <a:buSzPct val="100000"/>
              <a:buChar char="○"/>
            </a:pPr>
            <a:r>
              <a:rPr lang="en"/>
              <a:t>born_city &lt;= 100 </a:t>
            </a:r>
            <a:endParaRPr/>
          </a:p>
          <a:p>
            <a:pPr indent="-310832" lvl="1" marL="914400" rtl="0" algn="l">
              <a:spcBef>
                <a:spcPts val="0"/>
              </a:spcBef>
              <a:spcAft>
                <a:spcPts val="0"/>
              </a:spcAft>
              <a:buSzPct val="100000"/>
              <a:buChar char="○"/>
            </a:pPr>
            <a:r>
              <a:rPr lang="en"/>
              <a:t>born_region &lt;= 100</a:t>
            </a:r>
            <a:endParaRPr/>
          </a:p>
          <a:p>
            <a:pPr indent="-310832" lvl="1" marL="914400" rtl="0" algn="l">
              <a:spcBef>
                <a:spcPts val="0"/>
              </a:spcBef>
              <a:spcAft>
                <a:spcPts val="0"/>
              </a:spcAft>
              <a:buSzPct val="100000"/>
              <a:buChar char="○"/>
            </a:pPr>
            <a:r>
              <a:rPr lang="en"/>
              <a:t>NOC &lt;= 50</a:t>
            </a:r>
            <a:endParaRPr/>
          </a:p>
          <a:p>
            <a:pPr indent="-334328" lvl="0" marL="457200" rtl="0" algn="l">
              <a:spcBef>
                <a:spcPts val="0"/>
              </a:spcBef>
              <a:spcAft>
                <a:spcPts val="0"/>
              </a:spcAft>
              <a:buSzPct val="100000"/>
              <a:buChar char="●"/>
            </a:pPr>
            <a:r>
              <a:rPr lang="en"/>
              <a:t>Numeric Checks</a:t>
            </a:r>
            <a:endParaRPr/>
          </a:p>
          <a:p>
            <a:pPr indent="-310832" lvl="1" marL="914400" rtl="0" algn="l">
              <a:spcBef>
                <a:spcPts val="0"/>
              </a:spcBef>
              <a:spcAft>
                <a:spcPts val="0"/>
              </a:spcAft>
              <a:buSzPct val="100000"/>
              <a:buChar char="○"/>
            </a:pPr>
            <a:r>
              <a:rPr lang="en"/>
              <a:t>height_cm 90-250</a:t>
            </a:r>
            <a:endParaRPr/>
          </a:p>
          <a:p>
            <a:pPr indent="-310832" lvl="1" marL="914400" rtl="0" algn="l">
              <a:spcBef>
                <a:spcPts val="0"/>
              </a:spcBef>
              <a:spcAft>
                <a:spcPts val="0"/>
              </a:spcAft>
              <a:buSzPct val="100000"/>
              <a:buChar char="○"/>
            </a:pPr>
            <a:r>
              <a:rPr lang="en"/>
              <a:t>weight_kg 20-300 </a:t>
            </a:r>
            <a:endParaRPr/>
          </a:p>
          <a:p>
            <a:pPr indent="-334328" lvl="0" marL="457200" rtl="0" algn="l">
              <a:spcBef>
                <a:spcPts val="0"/>
              </a:spcBef>
              <a:spcAft>
                <a:spcPts val="0"/>
              </a:spcAft>
              <a:buSzPct val="100000"/>
              <a:buChar char="●"/>
            </a:pPr>
            <a:r>
              <a:rPr lang="en"/>
              <a:t>Date Checks</a:t>
            </a:r>
            <a:endParaRPr/>
          </a:p>
          <a:p>
            <a:pPr indent="-310832" lvl="1" marL="914400" rtl="0" algn="l">
              <a:spcBef>
                <a:spcPts val="0"/>
              </a:spcBef>
              <a:spcAft>
                <a:spcPts val="0"/>
              </a:spcAft>
              <a:buSzPct val="100000"/>
              <a:buChar char="○"/>
            </a:pPr>
            <a:r>
              <a:rPr lang="en"/>
              <a:t>born_date &gt; 1800</a:t>
            </a:r>
            <a:endParaRPr/>
          </a:p>
          <a:p>
            <a:pPr indent="-310832" lvl="1" marL="914400" rtl="0" algn="l">
              <a:spcBef>
                <a:spcPts val="0"/>
              </a:spcBef>
              <a:spcAft>
                <a:spcPts val="0"/>
              </a:spcAft>
              <a:buSzPct val="100000"/>
              <a:buChar char="○"/>
            </a:pPr>
            <a:r>
              <a:rPr lang="en"/>
              <a:t>born_date &lt;= today</a:t>
            </a:r>
            <a:endParaRPr/>
          </a:p>
          <a:p>
            <a:pPr indent="-310832" lvl="1" marL="914400" rtl="0" algn="l">
              <a:spcBef>
                <a:spcPts val="0"/>
              </a:spcBef>
              <a:spcAft>
                <a:spcPts val="0"/>
              </a:spcAft>
              <a:buSzPct val="100000"/>
              <a:buChar char="○"/>
            </a:pPr>
            <a:r>
              <a:rPr lang="en"/>
              <a:t>died_date &gt; born_date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Reject Handling</a:t>
            </a:r>
            <a:endParaRPr/>
          </a:p>
        </p:txBody>
      </p:sp>
      <p:sp>
        <p:nvSpPr>
          <p:cNvPr id="183" name="Google Shape;183;p31"/>
          <p:cNvSpPr txBox="1"/>
          <p:nvPr>
            <p:ph idx="1" type="body"/>
          </p:nvPr>
        </p:nvSpPr>
        <p:spPr>
          <a:xfrm>
            <a:off x="471900" y="1919075"/>
            <a:ext cx="8222100" cy="2710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SzPts val="523"/>
              <a:buNone/>
            </a:pPr>
            <a:r>
              <a:rPr lang="en" sz="875"/>
              <a:t>   </a:t>
            </a:r>
            <a:endParaRPr sz="475"/>
          </a:p>
        </p:txBody>
      </p:sp>
      <p:pic>
        <p:nvPicPr>
          <p:cNvPr id="184" name="Google Shape;184;p31"/>
          <p:cNvPicPr preferRelativeResize="0"/>
          <p:nvPr/>
        </p:nvPicPr>
        <p:blipFill>
          <a:blip r:embed="rId3">
            <a:alphaModFix/>
          </a:blip>
          <a:stretch>
            <a:fillRect/>
          </a:stretch>
        </p:blipFill>
        <p:spPr>
          <a:xfrm>
            <a:off x="4571988" y="546613"/>
            <a:ext cx="4467225" cy="4467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Deduplication Logic</a:t>
            </a:r>
            <a:endParaRPr/>
          </a:p>
        </p:txBody>
      </p:sp>
      <p:sp>
        <p:nvSpPr>
          <p:cNvPr id="190" name="Google Shape;190;p32"/>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92500" lnSpcReduction="20000"/>
          </a:bodyPr>
          <a:lstStyle/>
          <a:p>
            <a:pPr indent="-334328" lvl="0" marL="457200" rtl="0" algn="l">
              <a:spcBef>
                <a:spcPts val="0"/>
              </a:spcBef>
              <a:spcAft>
                <a:spcPts val="0"/>
              </a:spcAft>
              <a:buSzPct val="100000"/>
              <a:buChar char="●"/>
            </a:pPr>
            <a:r>
              <a:rPr lang="en"/>
              <a:t>Current Logic:</a:t>
            </a:r>
            <a:endParaRPr/>
          </a:p>
          <a:p>
            <a:pPr indent="-310832" lvl="1" marL="914400" rtl="0" algn="l">
              <a:spcBef>
                <a:spcPts val="0"/>
              </a:spcBef>
              <a:spcAft>
                <a:spcPts val="0"/>
              </a:spcAft>
              <a:buSzPct val="100000"/>
              <a:buChar char="○"/>
            </a:pPr>
            <a:r>
              <a:rPr lang="en"/>
              <a:t>Hash Columns</a:t>
            </a:r>
            <a:endParaRPr/>
          </a:p>
          <a:p>
            <a:pPr indent="-310832" lvl="1" marL="914400" rtl="0" algn="l">
              <a:spcBef>
                <a:spcPts val="0"/>
              </a:spcBef>
              <a:spcAft>
                <a:spcPts val="0"/>
              </a:spcAft>
              <a:buSzPct val="100000"/>
              <a:buChar char="○"/>
            </a:pPr>
            <a:r>
              <a:t/>
            </a:r>
            <a:endParaRPr/>
          </a:p>
          <a:p>
            <a:pPr indent="-310832" lvl="1" marL="914400" rtl="0" algn="l">
              <a:spcBef>
                <a:spcPts val="0"/>
              </a:spcBef>
              <a:spcAft>
                <a:spcPts val="0"/>
              </a:spcAft>
              <a:buSzPct val="100000"/>
              <a:buChar char="○"/>
            </a:pPr>
            <a:r>
              <a:rPr lang="en"/>
              <a:t>name</a:t>
            </a:r>
            <a:endParaRPr/>
          </a:p>
          <a:p>
            <a:pPr indent="-310832" lvl="1" marL="914400" rtl="0" algn="l">
              <a:spcBef>
                <a:spcPts val="0"/>
              </a:spcBef>
              <a:spcAft>
                <a:spcPts val="0"/>
              </a:spcAft>
              <a:buSzPct val="100000"/>
              <a:buChar char="○"/>
            </a:pPr>
            <a:r>
              <a:rPr lang="en"/>
              <a:t>born_date</a:t>
            </a:r>
            <a:endParaRPr/>
          </a:p>
          <a:p>
            <a:pPr indent="-310832" lvl="1" marL="914400" rtl="0" algn="l">
              <a:spcBef>
                <a:spcPts val="0"/>
              </a:spcBef>
              <a:spcAft>
                <a:spcPts val="0"/>
              </a:spcAft>
              <a:buSzPct val="100000"/>
              <a:buChar char="○"/>
            </a:pPr>
            <a:r>
              <a:rPr lang="en"/>
              <a:t>born_city</a:t>
            </a:r>
            <a:endParaRPr/>
          </a:p>
          <a:p>
            <a:pPr indent="-310832" lvl="1" marL="914400" rtl="0" algn="l">
              <a:spcBef>
                <a:spcPts val="0"/>
              </a:spcBef>
              <a:spcAft>
                <a:spcPts val="0"/>
              </a:spcAft>
              <a:buSzPct val="100000"/>
              <a:buChar char="○"/>
            </a:pPr>
            <a:r>
              <a:rPr lang="en"/>
              <a:t>born_country </a:t>
            </a:r>
            <a:endParaRPr/>
          </a:p>
          <a:p>
            <a:pPr indent="-334328" lvl="0" marL="457200" rtl="0" algn="l">
              <a:spcBef>
                <a:spcPts val="0"/>
              </a:spcBef>
              <a:spcAft>
                <a:spcPts val="0"/>
              </a:spcAft>
              <a:buSzPct val="100000"/>
              <a:buChar char="●"/>
            </a:pPr>
            <a:r>
              <a:rPr lang="en"/>
              <a:t>Process:</a:t>
            </a:r>
            <a:endParaRPr/>
          </a:p>
          <a:p>
            <a:pPr indent="-334328" lvl="0" marL="457200" rtl="0" algn="l">
              <a:spcBef>
                <a:spcPts val="0"/>
              </a:spcBef>
              <a:spcAft>
                <a:spcPts val="0"/>
              </a:spcAft>
              <a:buSzPct val="100000"/>
              <a:buChar char="●"/>
            </a:pPr>
            <a:r>
              <a:rPr lang="en"/>
              <a:t>Results:</a:t>
            </a:r>
            <a:endParaRPr/>
          </a:p>
          <a:p>
            <a:pPr indent="-310832" lvl="1" marL="914400" rtl="0" algn="l">
              <a:spcBef>
                <a:spcPts val="0"/>
              </a:spcBef>
              <a:spcAft>
                <a:spcPts val="0"/>
              </a:spcAft>
              <a:buSzPct val="100000"/>
              <a:buChar char="○"/>
            </a:pPr>
            <a:r>
              <a:rPr lang="en"/>
              <a:t>411 duplicates removed </a:t>
            </a:r>
            <a:endParaRPr/>
          </a:p>
          <a:p>
            <a:pPr indent="0" lvl="0" marL="0" rtl="0" algn="l">
              <a:spcBef>
                <a:spcPts val="1200"/>
              </a:spcBef>
              <a:spcAft>
                <a:spcPts val="12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Audit Framework</a:t>
            </a:r>
            <a:endParaRPr/>
          </a:p>
        </p:txBody>
      </p:sp>
      <p:sp>
        <p:nvSpPr>
          <p:cNvPr id="196" name="Google Shape;196;p3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55000" lnSpcReduction="10000"/>
          </a:bodyPr>
          <a:lstStyle/>
          <a:p>
            <a:pPr indent="-291465" lvl="0" marL="457200" rtl="0" algn="l">
              <a:spcBef>
                <a:spcPts val="0"/>
              </a:spcBef>
              <a:spcAft>
                <a:spcPts val="0"/>
              </a:spcAft>
              <a:buSzPct val="100000"/>
              <a:buChar char="●"/>
            </a:pPr>
            <a:r>
              <a:rPr b="1" lang="en"/>
              <a:t>Captured Metrics:</a:t>
            </a:r>
            <a:endParaRPr b="1"/>
          </a:p>
          <a:p>
            <a:pPr indent="-282734" lvl="1" marL="914400" rtl="0" algn="l">
              <a:spcBef>
                <a:spcPts val="0"/>
              </a:spcBef>
              <a:spcAft>
                <a:spcPts val="0"/>
              </a:spcAft>
              <a:buSzPct val="100000"/>
              <a:buChar char="○"/>
            </a:pPr>
            <a:r>
              <a:rPr lang="en" sz="1550"/>
              <a:t>Run ID</a:t>
            </a:r>
            <a:endParaRPr sz="1550"/>
          </a:p>
          <a:p>
            <a:pPr indent="-282734" lvl="1" marL="914400" rtl="0" algn="l">
              <a:spcBef>
                <a:spcPts val="0"/>
              </a:spcBef>
              <a:spcAft>
                <a:spcPts val="0"/>
              </a:spcAft>
              <a:buSzPct val="100000"/>
              <a:buChar char="○"/>
            </a:pPr>
            <a:r>
              <a:rPr lang="en" sz="1550"/>
              <a:t>Start Time</a:t>
            </a:r>
            <a:endParaRPr sz="1550"/>
          </a:p>
          <a:p>
            <a:pPr indent="-282734" lvl="1" marL="914400" rtl="0" algn="l">
              <a:spcBef>
                <a:spcPts val="0"/>
              </a:spcBef>
              <a:spcAft>
                <a:spcPts val="0"/>
              </a:spcAft>
              <a:buSzPct val="100000"/>
              <a:buChar char="○"/>
            </a:pPr>
            <a:r>
              <a:rPr lang="en" sz="1550"/>
              <a:t>End Time</a:t>
            </a:r>
            <a:endParaRPr sz="1550"/>
          </a:p>
          <a:p>
            <a:pPr indent="-282734" lvl="1" marL="914400" rtl="0" algn="l">
              <a:spcBef>
                <a:spcPts val="0"/>
              </a:spcBef>
              <a:spcAft>
                <a:spcPts val="0"/>
              </a:spcAft>
              <a:buSzPct val="100000"/>
              <a:buChar char="○"/>
            </a:pPr>
            <a:r>
              <a:rPr lang="en" sz="1550"/>
              <a:t>Duration</a:t>
            </a:r>
            <a:endParaRPr sz="1550"/>
          </a:p>
          <a:p>
            <a:pPr indent="-282734" lvl="1" marL="914400" rtl="0" algn="l">
              <a:spcBef>
                <a:spcPts val="0"/>
              </a:spcBef>
              <a:spcAft>
                <a:spcPts val="0"/>
              </a:spcAft>
              <a:buSzPct val="100000"/>
              <a:buChar char="○"/>
            </a:pPr>
            <a:r>
              <a:rPr lang="en" sz="1550"/>
              <a:t>Status</a:t>
            </a:r>
            <a:endParaRPr sz="1550"/>
          </a:p>
          <a:p>
            <a:pPr indent="-282734" lvl="1" marL="914400" rtl="0" algn="l">
              <a:spcBef>
                <a:spcPts val="0"/>
              </a:spcBef>
              <a:spcAft>
                <a:spcPts val="0"/>
              </a:spcAft>
              <a:buSzPct val="100000"/>
              <a:buChar char="○"/>
            </a:pPr>
            <a:r>
              <a:rPr lang="en" sz="1550"/>
              <a:t>Rows Loaded</a:t>
            </a:r>
            <a:endParaRPr sz="1550"/>
          </a:p>
          <a:p>
            <a:pPr indent="-282734" lvl="1" marL="914400" rtl="0" algn="l">
              <a:spcBef>
                <a:spcPts val="0"/>
              </a:spcBef>
              <a:spcAft>
                <a:spcPts val="0"/>
              </a:spcAft>
              <a:buSzPct val="100000"/>
              <a:buChar char="○"/>
            </a:pPr>
            <a:r>
              <a:rPr lang="en" sz="1550"/>
              <a:t>Rows Rejected</a:t>
            </a:r>
            <a:endParaRPr sz="1550"/>
          </a:p>
          <a:p>
            <a:pPr indent="-282734" lvl="1" marL="914400" rtl="0" algn="l">
              <a:spcBef>
                <a:spcPts val="0"/>
              </a:spcBef>
              <a:spcAft>
                <a:spcPts val="0"/>
              </a:spcAft>
              <a:buSzPct val="100000"/>
              <a:buChar char="○"/>
            </a:pPr>
            <a:r>
              <a:rPr lang="en" sz="1550"/>
              <a:t>Rows Skipped </a:t>
            </a:r>
            <a:endParaRPr sz="1550"/>
          </a:p>
          <a:p>
            <a:pPr indent="-291465" lvl="0" marL="457200" rtl="0" algn="l">
              <a:spcBef>
                <a:spcPts val="0"/>
              </a:spcBef>
              <a:spcAft>
                <a:spcPts val="0"/>
              </a:spcAft>
              <a:buSzPct val="100000"/>
              <a:buChar char="●"/>
            </a:pPr>
            <a:r>
              <a:rPr b="1" lang="en"/>
              <a:t>Diagram:</a:t>
            </a:r>
            <a:endParaRPr b="1"/>
          </a:p>
          <a:p>
            <a:pPr indent="0" lvl="0" marL="457200" rtl="0" algn="l">
              <a:spcBef>
                <a:spcPts val="1200"/>
              </a:spcBef>
              <a:spcAft>
                <a:spcPts val="0"/>
              </a:spcAft>
              <a:buNone/>
            </a:pPr>
            <a:r>
              <a:rPr lang="en" sz="1600"/>
              <a:t>ETL Run</a:t>
            </a:r>
            <a:endParaRPr sz="1600"/>
          </a:p>
          <a:p>
            <a:pPr indent="0" lvl="0" marL="457200" rtl="0" algn="l">
              <a:spcBef>
                <a:spcPts val="1200"/>
              </a:spcBef>
              <a:spcAft>
                <a:spcPts val="0"/>
              </a:spcAft>
              <a:buNone/>
            </a:pPr>
            <a:r>
              <a:rPr lang="en" sz="1600"/>
              <a:t>   ↓</a:t>
            </a:r>
            <a:endParaRPr sz="1600"/>
          </a:p>
          <a:p>
            <a:pPr indent="0" lvl="0" marL="457200" rtl="0" algn="l">
              <a:spcBef>
                <a:spcPts val="1200"/>
              </a:spcBef>
              <a:spcAft>
                <a:spcPts val="0"/>
              </a:spcAft>
              <a:buNone/>
            </a:pPr>
            <a:r>
              <a:rPr lang="en" sz="1600"/>
              <a:t>Audit Table</a:t>
            </a:r>
            <a:endParaRPr sz="1600"/>
          </a:p>
          <a:p>
            <a:pPr indent="0" lvl="0" marL="457200" rtl="0" algn="l">
              <a:spcBef>
                <a:spcPts val="1200"/>
              </a:spcBef>
              <a:spcAft>
                <a:spcPts val="1200"/>
              </a:spcAft>
              <a:buNone/>
            </a:pPr>
            <a:r>
              <a:t/>
            </a:r>
            <a:endParaRPr sz="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Docker Architecture</a:t>
            </a:r>
            <a:endParaRPr/>
          </a:p>
        </p:txBody>
      </p:sp>
      <p:sp>
        <p:nvSpPr>
          <p:cNvPr id="202" name="Google Shape;202;p34"/>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Diagram:</a:t>
            </a:r>
            <a:endParaRPr/>
          </a:p>
          <a:p>
            <a:pPr indent="-342900" lvl="0" marL="457200" rtl="0" algn="l">
              <a:spcBef>
                <a:spcPts val="0"/>
              </a:spcBef>
              <a:spcAft>
                <a:spcPts val="0"/>
              </a:spcAft>
              <a:buSzPts val="1800"/>
              <a:buChar char="●"/>
            </a:pPr>
            <a:r>
              <a:rPr lang="en"/>
              <a:t>Volumes:</a:t>
            </a:r>
            <a:endParaRPr/>
          </a:p>
          <a:p>
            <a:pPr indent="-317500" lvl="1" marL="914400" rtl="0" algn="l">
              <a:spcBef>
                <a:spcPts val="0"/>
              </a:spcBef>
              <a:spcAft>
                <a:spcPts val="0"/>
              </a:spcAft>
              <a:buSzPts val="1400"/>
              <a:buChar char="○"/>
            </a:pPr>
            <a:r>
              <a:rPr lang="en"/>
              <a:t>dags</a:t>
            </a:r>
            <a:endParaRPr/>
          </a:p>
          <a:p>
            <a:pPr indent="-317500" lvl="1" marL="914400" rtl="0" algn="l">
              <a:spcBef>
                <a:spcPts val="0"/>
              </a:spcBef>
              <a:spcAft>
                <a:spcPts val="0"/>
              </a:spcAft>
              <a:buSzPts val="1400"/>
              <a:buChar char="○"/>
            </a:pPr>
            <a:r>
              <a:rPr lang="en"/>
              <a:t>src</a:t>
            </a:r>
            <a:endParaRPr/>
          </a:p>
          <a:p>
            <a:pPr indent="-317500" lvl="1" marL="914400" rtl="0" algn="l">
              <a:spcBef>
                <a:spcPts val="0"/>
              </a:spcBef>
              <a:spcAft>
                <a:spcPts val="0"/>
              </a:spcAft>
              <a:buSzPts val="1400"/>
              <a:buChar char="○"/>
            </a:pPr>
            <a:r>
              <a:rPr lang="en"/>
              <a:t>configs</a:t>
            </a:r>
            <a:endParaRPr/>
          </a:p>
          <a:p>
            <a:pPr indent="-317500" lvl="1" marL="914400" rtl="0" algn="l">
              <a:spcBef>
                <a:spcPts val="0"/>
              </a:spcBef>
              <a:spcAft>
                <a:spcPts val="0"/>
              </a:spcAft>
              <a:buSzPts val="1400"/>
              <a:buChar char="○"/>
            </a:pPr>
            <a:r>
              <a:rPr lang="en"/>
              <a:t>data </a:t>
            </a:r>
            <a:endParaRPr/>
          </a:p>
        </p:txBody>
      </p:sp>
      <p:pic>
        <p:nvPicPr>
          <p:cNvPr id="203" name="Google Shape;203;p34"/>
          <p:cNvPicPr preferRelativeResize="0"/>
          <p:nvPr/>
        </p:nvPicPr>
        <p:blipFill>
          <a:blip r:embed="rId3">
            <a:alphaModFix/>
          </a:blip>
          <a:stretch>
            <a:fillRect/>
          </a:stretch>
        </p:blipFill>
        <p:spPr>
          <a:xfrm>
            <a:off x="4113550" y="1786150"/>
            <a:ext cx="1638300" cy="19240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Airflow DAG</a:t>
            </a:r>
            <a:endParaRPr/>
          </a:p>
        </p:txBody>
      </p:sp>
      <p:sp>
        <p:nvSpPr>
          <p:cNvPr id="209" name="Google Shape;209;p35"/>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Diagram:</a:t>
            </a:r>
            <a:endParaRPr/>
          </a:p>
          <a:p>
            <a:pPr indent="-342900" lvl="0" marL="457200" rtl="0" algn="l">
              <a:spcBef>
                <a:spcPts val="0"/>
              </a:spcBef>
              <a:spcAft>
                <a:spcPts val="0"/>
              </a:spcAft>
              <a:buSzPts val="1800"/>
              <a:buChar char="●"/>
            </a:pPr>
            <a:r>
              <a:rPr lang="en"/>
              <a:t>Execution:</a:t>
            </a:r>
            <a:endParaRPr/>
          </a:p>
          <a:p>
            <a:pPr indent="-317500" lvl="1" marL="914400" rtl="0" algn="l">
              <a:spcBef>
                <a:spcPts val="0"/>
              </a:spcBef>
              <a:spcAft>
                <a:spcPts val="0"/>
              </a:spcAft>
              <a:buSzPts val="1400"/>
              <a:buChar char="○"/>
            </a:pPr>
            <a:r>
              <a:rPr lang="en"/>
              <a:t>python -m athletes_etl.main (Bash command)</a:t>
            </a:r>
            <a:endParaRPr/>
          </a:p>
        </p:txBody>
      </p:sp>
      <p:pic>
        <p:nvPicPr>
          <p:cNvPr id="210" name="Google Shape;210;p35"/>
          <p:cNvPicPr preferRelativeResize="0"/>
          <p:nvPr/>
        </p:nvPicPr>
        <p:blipFill>
          <a:blip r:embed="rId3">
            <a:alphaModFix/>
          </a:blip>
          <a:stretch>
            <a:fillRect/>
          </a:stretch>
        </p:blipFill>
        <p:spPr>
          <a:xfrm>
            <a:off x="5567850" y="1919075"/>
            <a:ext cx="1885950" cy="1962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Operational Runbook</a:t>
            </a:r>
            <a:endParaRPr/>
          </a:p>
        </p:txBody>
      </p:sp>
      <p:sp>
        <p:nvSpPr>
          <p:cNvPr id="216" name="Google Shape;216;p36"/>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Start</a:t>
            </a:r>
            <a:endParaRPr/>
          </a:p>
          <a:p>
            <a:pPr indent="-317500" lvl="1" marL="914400" rtl="0" algn="l">
              <a:spcBef>
                <a:spcPts val="0"/>
              </a:spcBef>
              <a:spcAft>
                <a:spcPts val="0"/>
              </a:spcAft>
              <a:buSzPts val="1400"/>
              <a:buChar char="○"/>
            </a:pPr>
            <a:r>
              <a:rPr lang="en"/>
              <a:t>docker compose up -d (Bash)</a:t>
            </a:r>
            <a:endParaRPr/>
          </a:p>
          <a:p>
            <a:pPr indent="-342900" lvl="0" marL="457200" rtl="0" algn="l">
              <a:spcBef>
                <a:spcPts val="0"/>
              </a:spcBef>
              <a:spcAft>
                <a:spcPts val="0"/>
              </a:spcAft>
              <a:buSzPts val="1800"/>
              <a:buChar char="●"/>
            </a:pPr>
            <a:r>
              <a:rPr lang="en"/>
              <a:t>Stop</a:t>
            </a:r>
            <a:endParaRPr/>
          </a:p>
          <a:p>
            <a:pPr indent="-317500" lvl="1" marL="914400" rtl="0" algn="l">
              <a:spcBef>
                <a:spcPts val="0"/>
              </a:spcBef>
              <a:spcAft>
                <a:spcPts val="0"/>
              </a:spcAft>
              <a:buSzPts val="1400"/>
              <a:buChar char="○"/>
            </a:pPr>
            <a:r>
              <a:rPr lang="en"/>
              <a:t>docker compose down </a:t>
            </a:r>
            <a:r>
              <a:rPr lang="en"/>
              <a:t>(Bash)</a:t>
            </a:r>
            <a:endParaRPr/>
          </a:p>
          <a:p>
            <a:pPr indent="-342900" lvl="0" marL="457200" rtl="0" algn="l">
              <a:spcBef>
                <a:spcPts val="0"/>
              </a:spcBef>
              <a:spcAft>
                <a:spcPts val="0"/>
              </a:spcAft>
              <a:buSzPts val="1800"/>
              <a:buChar char="●"/>
            </a:pPr>
            <a:r>
              <a:rPr lang="en"/>
              <a:t>Check DAGs</a:t>
            </a:r>
            <a:endParaRPr/>
          </a:p>
          <a:p>
            <a:pPr indent="-317500" lvl="1" marL="914400" rtl="0" algn="l">
              <a:spcBef>
                <a:spcPts val="0"/>
              </a:spcBef>
              <a:spcAft>
                <a:spcPts val="0"/>
              </a:spcAft>
              <a:buSzPts val="1400"/>
              <a:buChar char="○"/>
            </a:pPr>
            <a:r>
              <a:rPr lang="en"/>
              <a:t>docker exec -it airflow airflow dags list </a:t>
            </a:r>
            <a:r>
              <a:rPr lang="en"/>
              <a:t>(Bash)</a:t>
            </a:r>
            <a:endParaRPr/>
          </a:p>
          <a:p>
            <a:pPr indent="-342900" lvl="0" marL="457200" rtl="0" algn="l">
              <a:spcBef>
                <a:spcPts val="0"/>
              </a:spcBef>
              <a:spcAft>
                <a:spcPts val="0"/>
              </a:spcAft>
              <a:buSzPts val="1800"/>
              <a:buChar char="●"/>
            </a:pPr>
            <a:r>
              <a:rPr lang="en"/>
              <a:t>Trigger </a:t>
            </a:r>
            <a:r>
              <a:rPr lang="en"/>
              <a:t>DAGs</a:t>
            </a:r>
            <a:endParaRPr/>
          </a:p>
          <a:p>
            <a:pPr indent="-317500" lvl="1" marL="914400" rtl="0" algn="l">
              <a:spcBef>
                <a:spcPts val="0"/>
              </a:spcBef>
              <a:spcAft>
                <a:spcPts val="0"/>
              </a:spcAft>
              <a:buSzPts val="1400"/>
              <a:buChar char="○"/>
            </a:pPr>
            <a:r>
              <a:rPr lang="en"/>
              <a:t>docker exec -it airflow airflow dags trigger athletes_etl_pipeline (Bash)</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7"/>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Common Issues (Gotchas)</a:t>
            </a:r>
            <a:endParaRPr/>
          </a:p>
        </p:txBody>
      </p:sp>
      <p:sp>
        <p:nvSpPr>
          <p:cNvPr id="222" name="Google Shape;222;p37"/>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SQL Password Missing</a:t>
            </a:r>
            <a:endParaRPr/>
          </a:p>
          <a:p>
            <a:pPr indent="-304165" lvl="1" marL="914400" rtl="0" algn="l">
              <a:spcBef>
                <a:spcPts val="0"/>
              </a:spcBef>
              <a:spcAft>
                <a:spcPts val="0"/>
              </a:spcAft>
              <a:buSzPct val="100000"/>
              <a:buChar char="○"/>
            </a:pPr>
            <a:r>
              <a:rPr lang="en"/>
              <a:t>Error:</a:t>
            </a:r>
            <a:endParaRPr/>
          </a:p>
          <a:p>
            <a:pPr indent="-304165" lvl="2" marL="1371600" rtl="0" algn="l">
              <a:spcBef>
                <a:spcPts val="0"/>
              </a:spcBef>
              <a:spcAft>
                <a:spcPts val="0"/>
              </a:spcAft>
              <a:buSzPct val="100000"/>
              <a:buChar char="■"/>
            </a:pPr>
            <a:r>
              <a:rPr lang="en"/>
              <a:t>Missing environment variable:</a:t>
            </a:r>
            <a:endParaRPr/>
          </a:p>
          <a:p>
            <a:pPr indent="-304165" lvl="2" marL="1371600" rtl="0" algn="l">
              <a:spcBef>
                <a:spcPts val="0"/>
              </a:spcBef>
              <a:spcAft>
                <a:spcPts val="0"/>
              </a:spcAft>
              <a:buSzPct val="100000"/>
              <a:buChar char="■"/>
            </a:pPr>
            <a:r>
              <a:rPr lang="en"/>
              <a:t>SQLSERVER_PASSWORD</a:t>
            </a:r>
            <a:endParaRPr/>
          </a:p>
          <a:p>
            <a:pPr indent="-304165" lvl="1" marL="914400" rtl="0" algn="l">
              <a:spcBef>
                <a:spcPts val="0"/>
              </a:spcBef>
              <a:spcAft>
                <a:spcPts val="0"/>
              </a:spcAft>
              <a:buSzPct val="100000"/>
              <a:buChar char="○"/>
            </a:pPr>
            <a:r>
              <a:rPr lang="en"/>
              <a:t>Fix</a:t>
            </a:r>
            <a:endParaRPr/>
          </a:p>
          <a:p>
            <a:pPr indent="-304165" lvl="2" marL="1371600" rtl="0" algn="l">
              <a:spcBef>
                <a:spcPts val="0"/>
              </a:spcBef>
              <a:spcAft>
                <a:spcPts val="0"/>
              </a:spcAft>
              <a:buSzPct val="100000"/>
              <a:buChar char="■"/>
            </a:pPr>
            <a:r>
              <a:rPr lang="en"/>
              <a:t>Set SQLSERVER_PASSWORD</a:t>
            </a:r>
            <a:endParaRPr/>
          </a:p>
          <a:p>
            <a:pPr indent="0" lvl="0" marL="1371600" rtl="0" algn="l">
              <a:spcBef>
                <a:spcPts val="1200"/>
              </a:spcBef>
              <a:spcAft>
                <a:spcPts val="0"/>
              </a:spcAft>
              <a:buNone/>
            </a:pPr>
            <a:r>
              <a:t/>
            </a:r>
            <a:endParaRPr/>
          </a:p>
          <a:p>
            <a:pPr indent="-325755" lvl="0" marL="457200" rtl="0" algn="l">
              <a:spcBef>
                <a:spcPts val="1200"/>
              </a:spcBef>
              <a:spcAft>
                <a:spcPts val="0"/>
              </a:spcAft>
              <a:buSzPct val="100000"/>
              <a:buChar char="●"/>
            </a:pPr>
            <a:r>
              <a:rPr lang="en"/>
              <a:t>PYTHONPATH Missing</a:t>
            </a:r>
            <a:endParaRPr/>
          </a:p>
          <a:p>
            <a:pPr indent="-304165" lvl="1" marL="914400" rtl="0" algn="l">
              <a:spcBef>
                <a:spcPts val="0"/>
              </a:spcBef>
              <a:spcAft>
                <a:spcPts val="0"/>
              </a:spcAft>
              <a:buSzPct val="100000"/>
              <a:buChar char="○"/>
            </a:pPr>
            <a:r>
              <a:rPr lang="en"/>
              <a:t>Error:</a:t>
            </a:r>
            <a:endParaRPr/>
          </a:p>
          <a:p>
            <a:pPr indent="-304165" lvl="2" marL="1371600" rtl="0" algn="l">
              <a:spcBef>
                <a:spcPts val="0"/>
              </a:spcBef>
              <a:spcAft>
                <a:spcPts val="0"/>
              </a:spcAft>
              <a:buSzPct val="100000"/>
              <a:buChar char="■"/>
            </a:pPr>
            <a:r>
              <a:rPr lang="en"/>
              <a:t>No module named athletes_etl</a:t>
            </a:r>
            <a:endParaRPr/>
          </a:p>
          <a:p>
            <a:pPr indent="-304165" lvl="1" marL="914400" rtl="0" algn="l">
              <a:spcBef>
                <a:spcPts val="0"/>
              </a:spcBef>
              <a:spcAft>
                <a:spcPts val="0"/>
              </a:spcAft>
              <a:buSzPct val="100000"/>
              <a:buChar char="○"/>
            </a:pPr>
            <a:r>
              <a:rPr lang="en"/>
              <a:t>Fix:</a:t>
            </a:r>
            <a:endParaRPr/>
          </a:p>
          <a:p>
            <a:pPr indent="-304165" lvl="2" marL="1371600" rtl="0" algn="l">
              <a:spcBef>
                <a:spcPts val="0"/>
              </a:spcBef>
              <a:spcAft>
                <a:spcPts val="0"/>
              </a:spcAft>
              <a:buSzPct val="100000"/>
              <a:buChar char="■"/>
            </a:pPr>
            <a:r>
              <a:rPr lang="en"/>
              <a:t>PYTHONPATH=/opt/airflow/src</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8"/>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Common Issues (Gotchas) part 2</a:t>
            </a:r>
            <a:endParaRPr/>
          </a:p>
        </p:txBody>
      </p:sp>
      <p:sp>
        <p:nvSpPr>
          <p:cNvPr id="228" name="Google Shape;228;p38"/>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SzPct val="100000"/>
              <a:buChar char="●"/>
            </a:pPr>
            <a:r>
              <a:rPr lang="en"/>
              <a:t>SQL Login Failures</a:t>
            </a:r>
            <a:endParaRPr/>
          </a:p>
          <a:p>
            <a:pPr indent="-304165" lvl="1" marL="914400" rtl="0" algn="l">
              <a:spcBef>
                <a:spcPts val="0"/>
              </a:spcBef>
              <a:spcAft>
                <a:spcPts val="0"/>
              </a:spcAft>
              <a:buSzPct val="100000"/>
              <a:buChar char="○"/>
            </a:pPr>
            <a:r>
              <a:rPr lang="en"/>
              <a:t>Error:</a:t>
            </a:r>
            <a:endParaRPr/>
          </a:p>
          <a:p>
            <a:pPr indent="-304165" lvl="2" marL="1371600" rtl="0" algn="l">
              <a:spcBef>
                <a:spcPts val="0"/>
              </a:spcBef>
              <a:spcAft>
                <a:spcPts val="0"/>
              </a:spcAft>
              <a:buSzPct val="100000"/>
              <a:buChar char="■"/>
            </a:pPr>
            <a:r>
              <a:rPr lang="en"/>
              <a:t>Login failed for user etl_user</a:t>
            </a:r>
            <a:endParaRPr/>
          </a:p>
          <a:p>
            <a:pPr indent="-304165" lvl="1" marL="914400" rtl="0" algn="l">
              <a:spcBef>
                <a:spcPts val="0"/>
              </a:spcBef>
              <a:spcAft>
                <a:spcPts val="0"/>
              </a:spcAft>
              <a:buSzPct val="100000"/>
              <a:buChar char="○"/>
            </a:pPr>
            <a:r>
              <a:rPr lang="en"/>
              <a:t>Fix</a:t>
            </a:r>
            <a:endParaRPr/>
          </a:p>
          <a:p>
            <a:pPr indent="-304165" lvl="2" marL="1371600" rtl="0" algn="l">
              <a:spcBef>
                <a:spcPts val="0"/>
              </a:spcBef>
              <a:spcAft>
                <a:spcPts val="0"/>
              </a:spcAft>
              <a:buSzPct val="100000"/>
              <a:buChar char="■"/>
            </a:pPr>
            <a:r>
              <a:rPr lang="en"/>
              <a:t>Set SQLSERVER_PASSWORD</a:t>
            </a:r>
            <a:endParaRPr/>
          </a:p>
          <a:p>
            <a:pPr indent="0" lvl="0" marL="1371600" rtl="0" algn="l">
              <a:spcBef>
                <a:spcPts val="1200"/>
              </a:spcBef>
              <a:spcAft>
                <a:spcPts val="0"/>
              </a:spcAft>
              <a:buNone/>
            </a:pPr>
            <a:r>
              <a:t/>
            </a:r>
            <a:endParaRPr/>
          </a:p>
          <a:p>
            <a:pPr indent="-325755" lvl="0" marL="457200" rtl="0" algn="l">
              <a:spcBef>
                <a:spcPts val="1200"/>
              </a:spcBef>
              <a:spcAft>
                <a:spcPts val="0"/>
              </a:spcAft>
              <a:buSzPct val="100000"/>
              <a:buChar char="●"/>
            </a:pPr>
            <a:r>
              <a:rPr lang="en"/>
              <a:t>Duplicate Inserts</a:t>
            </a:r>
            <a:endParaRPr/>
          </a:p>
          <a:p>
            <a:pPr indent="-304165" lvl="1" marL="914400" rtl="0" algn="l">
              <a:spcBef>
                <a:spcPts val="0"/>
              </a:spcBef>
              <a:spcAft>
                <a:spcPts val="0"/>
              </a:spcAft>
              <a:buSzPct val="100000"/>
              <a:buChar char="○"/>
            </a:pPr>
            <a:r>
              <a:rPr lang="en"/>
              <a:t>Problem:</a:t>
            </a:r>
            <a:endParaRPr/>
          </a:p>
          <a:p>
            <a:pPr indent="-304165" lvl="2" marL="1371600" rtl="0" algn="l">
              <a:spcBef>
                <a:spcPts val="0"/>
              </a:spcBef>
              <a:spcAft>
                <a:spcPts val="0"/>
              </a:spcAft>
              <a:buSzPct val="100000"/>
              <a:buChar char="■"/>
            </a:pPr>
            <a:r>
              <a:rPr lang="en"/>
              <a:t>Multiple DAG runs</a:t>
            </a:r>
            <a:endParaRPr/>
          </a:p>
          <a:p>
            <a:pPr indent="-304165" lvl="1" marL="914400" rtl="0" algn="l">
              <a:spcBef>
                <a:spcPts val="0"/>
              </a:spcBef>
              <a:spcAft>
                <a:spcPts val="0"/>
              </a:spcAft>
              <a:buSzPct val="100000"/>
              <a:buChar char="○"/>
            </a:pPr>
            <a:r>
              <a:rPr lang="en"/>
              <a:t>Fix:</a:t>
            </a:r>
            <a:endParaRPr/>
          </a:p>
          <a:p>
            <a:pPr indent="-304165" lvl="2" marL="1371600" rtl="0" algn="l">
              <a:spcBef>
                <a:spcPts val="0"/>
              </a:spcBef>
              <a:spcAft>
                <a:spcPts val="0"/>
              </a:spcAft>
              <a:buSzPct val="100000"/>
              <a:buChar char="■"/>
            </a:pPr>
            <a:r>
              <a:rPr lang="en"/>
              <a:t>Target-side duplicate check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9"/>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Lessons Learned</a:t>
            </a:r>
            <a:endParaRPr/>
          </a:p>
        </p:txBody>
      </p:sp>
      <p:sp>
        <p:nvSpPr>
          <p:cNvPr id="234" name="Google Shape;234;p39"/>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Environment variables matter</a:t>
            </a:r>
            <a:endParaRPr/>
          </a:p>
          <a:p>
            <a:pPr indent="-342900" lvl="0" marL="457200" rtl="0" algn="l">
              <a:spcBef>
                <a:spcPts val="0"/>
              </a:spcBef>
              <a:spcAft>
                <a:spcPts val="0"/>
              </a:spcAft>
              <a:buSzPts val="1800"/>
              <a:buChar char="●"/>
            </a:pPr>
            <a:r>
              <a:rPr lang="en"/>
              <a:t>Docker networking can be tricky</a:t>
            </a:r>
            <a:endParaRPr/>
          </a:p>
          <a:p>
            <a:pPr indent="-342900" lvl="0" marL="457200" rtl="0" algn="l">
              <a:spcBef>
                <a:spcPts val="0"/>
              </a:spcBef>
              <a:spcAft>
                <a:spcPts val="0"/>
              </a:spcAft>
              <a:buSzPts val="1800"/>
              <a:buChar char="●"/>
            </a:pPr>
            <a:r>
              <a:rPr lang="en"/>
              <a:t>Airflow needs PostgreSQL metadata DB</a:t>
            </a:r>
            <a:endParaRPr/>
          </a:p>
          <a:p>
            <a:pPr indent="-342900" lvl="0" marL="457200" rtl="0" algn="l">
              <a:spcBef>
                <a:spcPts val="0"/>
              </a:spcBef>
              <a:spcAft>
                <a:spcPts val="0"/>
              </a:spcAft>
              <a:buSzPts val="1800"/>
              <a:buChar char="●"/>
            </a:pPr>
            <a:r>
              <a:rPr lang="en"/>
              <a:t>Idempotent loads are essential</a:t>
            </a:r>
            <a:endParaRPr/>
          </a:p>
          <a:p>
            <a:pPr indent="-342900" lvl="0" marL="457200" rtl="0" algn="l">
              <a:spcBef>
                <a:spcPts val="0"/>
              </a:spcBef>
              <a:spcAft>
                <a:spcPts val="0"/>
              </a:spcAft>
              <a:buSzPts val="1800"/>
              <a:buChar char="●"/>
            </a:pPr>
            <a:r>
              <a:rPr lang="en"/>
              <a:t>Audit logging simplifies support</a:t>
            </a:r>
            <a:endParaRPr/>
          </a:p>
          <a:p>
            <a:pPr indent="0" lvl="0" marL="45720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40"/>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Future Enhancements</a:t>
            </a:r>
            <a:endParaRPr/>
          </a:p>
        </p:txBody>
      </p:sp>
      <p:sp>
        <p:nvSpPr>
          <p:cNvPr id="240" name="Google Shape;240;p40"/>
          <p:cNvSpPr txBox="1"/>
          <p:nvPr>
            <p:ph idx="1" type="body"/>
          </p:nvPr>
        </p:nvSpPr>
        <p:spPr>
          <a:xfrm>
            <a:off x="471900" y="1919075"/>
            <a:ext cx="8222100" cy="271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Project 2 Roadmap:</a:t>
            </a:r>
            <a:endParaRPr/>
          </a:p>
          <a:p>
            <a:pPr indent="-342900" lvl="0" marL="457200" rtl="0" algn="l">
              <a:spcBef>
                <a:spcPts val="0"/>
              </a:spcBef>
              <a:spcAft>
                <a:spcPts val="0"/>
              </a:spcAft>
              <a:buSzPts val="1800"/>
              <a:buChar char="●"/>
            </a:pPr>
            <a:r>
              <a:rPr lang="en"/>
              <a:t>Add:</a:t>
            </a:r>
            <a:endParaRPr/>
          </a:p>
          <a:p>
            <a:pPr indent="-317500" lvl="1" marL="914400" rtl="0" algn="l">
              <a:spcBef>
                <a:spcPts val="0"/>
              </a:spcBef>
              <a:spcAft>
                <a:spcPts val="0"/>
              </a:spcAft>
              <a:buSzPts val="1400"/>
              <a:buChar char="○"/>
            </a:pPr>
            <a:r>
              <a:rPr lang="en"/>
              <a:t>Incremental loads</a:t>
            </a:r>
            <a:endParaRPr/>
          </a:p>
          <a:p>
            <a:pPr indent="-317500" lvl="1" marL="914400" rtl="0" algn="l">
              <a:spcBef>
                <a:spcPts val="0"/>
              </a:spcBef>
              <a:spcAft>
                <a:spcPts val="0"/>
              </a:spcAft>
              <a:buSzPts val="1400"/>
              <a:buChar char="○"/>
            </a:pPr>
            <a:r>
              <a:rPr lang="en"/>
              <a:t>Partitioning</a:t>
            </a:r>
            <a:endParaRPr/>
          </a:p>
          <a:p>
            <a:pPr indent="-317500" lvl="1" marL="914400" rtl="0" algn="l">
              <a:spcBef>
                <a:spcPts val="0"/>
              </a:spcBef>
              <a:spcAft>
                <a:spcPts val="0"/>
              </a:spcAft>
              <a:buSzPts val="1400"/>
              <a:buChar char="○"/>
            </a:pPr>
            <a:r>
              <a:rPr lang="en"/>
              <a:t>CDC</a:t>
            </a:r>
            <a:endParaRPr/>
          </a:p>
          <a:p>
            <a:pPr indent="-317500" lvl="1" marL="914400" rtl="0" algn="l">
              <a:spcBef>
                <a:spcPts val="0"/>
              </a:spcBef>
              <a:spcAft>
                <a:spcPts val="0"/>
              </a:spcAft>
              <a:buSzPts val="1400"/>
              <a:buChar char="○"/>
            </a:pPr>
            <a:r>
              <a:rPr lang="en"/>
              <a:t>Data quality dashboard</a:t>
            </a:r>
            <a:endParaRPr/>
          </a:p>
          <a:p>
            <a:pPr indent="-317500" lvl="1" marL="914400" rtl="0" algn="l">
              <a:spcBef>
                <a:spcPts val="0"/>
              </a:spcBef>
              <a:spcAft>
                <a:spcPts val="0"/>
              </a:spcAft>
              <a:buSzPts val="1400"/>
              <a:buChar char="○"/>
            </a:pPr>
            <a:r>
              <a:rPr lang="en"/>
              <a:t>CI/CD deployment</a:t>
            </a:r>
            <a:endParaRPr/>
          </a:p>
          <a:p>
            <a:pPr indent="0" lvl="0" marL="91440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1"/>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Production Readiness Assessment</a:t>
            </a:r>
            <a:endParaRPr/>
          </a:p>
        </p:txBody>
      </p:sp>
      <p:sp>
        <p:nvSpPr>
          <p:cNvPr id="246" name="Google Shape;246;p41"/>
          <p:cNvSpPr txBox="1"/>
          <p:nvPr>
            <p:ph idx="1" type="body"/>
          </p:nvPr>
        </p:nvSpPr>
        <p:spPr>
          <a:xfrm>
            <a:off x="471900" y="1919075"/>
            <a:ext cx="8222100" cy="3412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47" name="Google Shape;247;p41"/>
          <p:cNvPicPr preferRelativeResize="0"/>
          <p:nvPr/>
        </p:nvPicPr>
        <p:blipFill>
          <a:blip r:embed="rId3">
            <a:alphaModFix/>
          </a:blip>
          <a:stretch>
            <a:fillRect/>
          </a:stretch>
        </p:blipFill>
        <p:spPr>
          <a:xfrm>
            <a:off x="564339" y="2014325"/>
            <a:ext cx="3249536" cy="31291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2"/>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Business Value Delivered</a:t>
            </a:r>
            <a:endParaRPr/>
          </a:p>
        </p:txBody>
      </p:sp>
      <p:sp>
        <p:nvSpPr>
          <p:cNvPr id="253" name="Google Shape;253;p42"/>
          <p:cNvSpPr txBox="1"/>
          <p:nvPr>
            <p:ph idx="1" type="body"/>
          </p:nvPr>
        </p:nvSpPr>
        <p:spPr>
          <a:xfrm>
            <a:off x="471900" y="1919075"/>
            <a:ext cx="8222100" cy="3639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54" name="Google Shape;254;p42"/>
          <p:cNvPicPr preferRelativeResize="0"/>
          <p:nvPr/>
        </p:nvPicPr>
        <p:blipFill>
          <a:blip r:embed="rId3">
            <a:alphaModFix/>
          </a:blip>
          <a:stretch>
            <a:fillRect/>
          </a:stretch>
        </p:blipFill>
        <p:spPr>
          <a:xfrm>
            <a:off x="552075" y="2030425"/>
            <a:ext cx="4811701" cy="3458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txBox="1"/>
          <p:nvPr>
            <p:ph type="title"/>
          </p:nvPr>
        </p:nvSpPr>
        <p:spPr>
          <a:xfrm>
            <a:off x="471900" y="738725"/>
            <a:ext cx="8222100" cy="767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Interview-Friendly Summary </a:t>
            </a:r>
            <a:endParaRPr/>
          </a:p>
        </p:txBody>
      </p:sp>
      <p:sp>
        <p:nvSpPr>
          <p:cNvPr id="260" name="Google Shape;260;p43"/>
          <p:cNvSpPr txBox="1"/>
          <p:nvPr>
            <p:ph idx="1" type="body"/>
          </p:nvPr>
        </p:nvSpPr>
        <p:spPr>
          <a:xfrm>
            <a:off x="471900" y="1919075"/>
            <a:ext cx="8222100" cy="2710200"/>
          </a:xfrm>
          <a:prstGeom prst="rect">
            <a:avLst/>
          </a:prstGeom>
        </p:spPr>
        <p:txBody>
          <a:bodyPr anchorCtr="0" anchor="t" bIns="91425" lIns="91425" spcFirstLastPara="1" rIns="91425" wrap="square" tIns="91425">
            <a:normAutofit fontScale="70000" lnSpcReduction="10000"/>
          </a:bodyPr>
          <a:lstStyle/>
          <a:p>
            <a:pPr indent="0" lvl="0" marL="0" rtl="0" algn="l">
              <a:spcBef>
                <a:spcPts val="0"/>
              </a:spcBef>
              <a:spcAft>
                <a:spcPts val="0"/>
              </a:spcAft>
              <a:buNone/>
            </a:pPr>
            <a:r>
              <a:rPr lang="en"/>
              <a:t>"What value did your project provide?"</a:t>
            </a:r>
            <a:endParaRPr/>
          </a:p>
          <a:p>
            <a:pPr indent="0" lvl="0" marL="0" rtl="0" algn="l">
              <a:spcBef>
                <a:spcPts val="1200"/>
              </a:spcBef>
              <a:spcAft>
                <a:spcPts val="0"/>
              </a:spcAft>
              <a:buNone/>
            </a:pPr>
            <a:r>
              <a:rPr lang="en"/>
              <a:t>Answer:</a:t>
            </a:r>
            <a:endParaRPr/>
          </a:p>
          <a:p>
            <a:pPr indent="0" lvl="0" marL="381000" marR="381000" rtl="0" algn="l">
              <a:spcBef>
                <a:spcPts val="1200"/>
              </a:spcBef>
              <a:spcAft>
                <a:spcPts val="0"/>
              </a:spcAft>
              <a:buNone/>
            </a:pPr>
            <a:r>
              <a:rPr lang="en"/>
              <a:t>The project was designed to reduce operational costs and improve reliability. It prevents duplicate data from being loaded, isolates bad records instead of failing the pipeline, captures audit information for faster troubleshooting, automates execution through Airflow, and standardizes deployment through Docker. These features reduce storage growth, manual intervention, support effort, and onboarding time while improving data quality and operational stability.</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1A237E"/>
      </a:accent5>
      <a:accent6>
        <a:srgbClr val="F4B400"/>
      </a:accent6>
      <a:hlink>
        <a:srgbClr val="1A237E"/>
      </a:hlink>
      <a:folHlink>
        <a:srgbClr val="1A237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